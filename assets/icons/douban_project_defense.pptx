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Noto Sans CJK SC"/>
              </a:defRPr>
            </a:pPr>
            <a:r>
              <a:rPr sz="1300" b="0" i="0" u="none" strike="noStrike">
                <a:solidFill>
                  <a:srgbClr val="000000"/>
                </a:solidFill>
                <a:latin typeface="Noto Sans CJK SC"/>
              </a:rPr>
              <a:t>当前平台可视化覆盖维度</a:t>
            </a:r>
          </a:p>
        </c:rich>
      </c:tx>
      <c:layout/>
      <c:overlay val="0"/>
    </c:title>
    <c:autoTitleDeleted val="0"/>
    <c:plotArea>
      <c:layout/>
      <c:barChart>
        <c:barDir val="col"/>
        <c:grouping val="clustered"/>
        <c:varyColors val="0"/>
        <c:ser>
          <c:idx val="0"/>
          <c:order val="0"/>
          <c:tx>
            <c:strRef>
              <c:f>Sheet1!$B$1</c:f>
              <c:strCache>
                <c:ptCount val="1"/>
                <c:pt idx="0">
                  <c:v>分析维度</c:v>
                </c:pt>
              </c:strCache>
            </c:strRef>
          </c:tx>
          <c:spPr>
            <a:solidFill>
              <a:srgbClr val="3C5CC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评分</c:v>
                  </c:pt>
                  <c:pt idx="1">
                    <c:v>热度</c:v>
                  </c:pt>
                  <c:pt idx="2">
                    <c:v>年份</c:v>
                  </c:pt>
                  <c:pt idx="3">
                    <c:v>情感</c:v>
                  </c:pt>
                  <c:pt idx="4">
                    <c:v>关系</c:v>
                  </c:pt>
                </c:lvl>
              </c:multiLvlStrCache>
            </c:multiLvlStrRef>
          </c:cat>
          <c:val>
            <c:numRef>
              <c:f>Sheet1!$B$2:$B$6</c:f>
              <c:numCache>
                <c:formatCode>General</c:formatCode>
                <c:ptCount val="5"/>
                <c:pt idx="0">
                  <c:v>20</c:v>
                </c:pt>
                <c:pt idx="1">
                  <c:v>20</c:v>
                </c:pt>
                <c:pt idx="2">
                  <c:v>62</c:v>
                </c:pt>
                <c:pt idx="3">
                  <c:v>3</c:v>
                </c:pt>
                <c:pt idx="4">
                  <c:v>120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Noto Sans CJK S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Noto Sans CJK SC"/>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大家好，我这次展示的项目是《基于云端数据库与大语言模型的图书数据可视化分析平台设计与实现》。本项目以豆瓣读书 Top250 图书数据为基础，目标是构建一个集数据采集、数据清洗、数据库存储、交互式可视化、用户个人书库管理和 AI 智能分析于一体的图书数据平台。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首先介绍项目背景。豆瓣读书 Top250 包含大量高质量图书评价数据，但传统榜单只能静态浏览。我的目标是把它做成一个可以筛选、可视化、交互和智能分析的平台，不只是展示图书信息，而是完成一套完整的数据分析流程。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整个系统的流程主要分为六个部分。首先通过爬虫采集豆瓣读书 Top250 数据，然后进行数据清洗和结构化处理，再存入 MySQL 数据库。前端使用 Streamlit 展示，数据可视化使用 Plotly 和网络图工具，最后接入 DeepSeek API 实现智能荐书和数据分析。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在数据来源方面，我使用 Python 爬虫采集豆瓣读书 Top250。先获取列表页的基础信息，再进入详情页采集长简介、作者简介、相关推荐和短评。之后用 pandas 进行清洗，比如评分数值化、出版年份提取、短评和相关推荐结构化，以及短评总赞数统计。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系统采用分层结构。最上层是用户层，表现层由 Streamlit 实现，业务层包括书籍浏览、可视化、AI 馆长和个人书库。分析层负责清洗、统计、情感分析和提示词构造。底层使用 Railway MySQL 和 DeepSeek API，同时通过 Streamlit Cloud 在线部署。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系统主要包含六个模块：书籍总览、数据可视化、AI 智能馆长、用户系统、我的书库和 AI 数据分析。公共书库面向所有用户，个人书库面向登录用户，AI 模块则基于当前数据内容进行智能分析和推荐。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可视化模块使用 pandas 做统计分析，Plotly 生成交互式图表。系统可以分析评分 Top、热度 Top、评分与热度关系、出版年份趋势。除此之外，还加入了热门短评情感分析和推荐关系网络图，让平台不仅看数字，也能分析评论文本和图书之间的关联。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功能接入 DeepSeek API。系统通过 OpenAI 兼容 SDK 创建客户端，并把 DeepSeek 的接口地址作为 base_url。AI 的回答不是随机生成，而是基于当前筛选出的图书数据构造上下文，再结合用户问题生成推荐和分析。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用户系统支持游客模式和登录模式。游客可以使用公共书库功能，登录用户可以上传、录入、修改和删除个人书库数据。这样系统不仅能够分析豆瓣 Top250，也可以扩展到用户自己的阅读数据。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部署方面，我把代码上传到 GitHub，通过 Streamlit Cloud 部署前端应用，同时使用 Railway MySQL 作为远程数据库。这样项目不再局限于本地运行，可以在线访问，数据库也在云端进行持久化存储。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项目仍有一些不足。首先数据主要来自豆瓣 Top250，样本范围有限。其次，情感分析目前使用 SnowNLP，对于复杂语义识别仍有限。AI 推荐也还可以继续结合用户行为提高个性化程度。随着数据量增加，网络图渲染、AI 分析和数据库查询也需要进一步优化。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总体来说，本项目完成了从数据采集到智能分析的完整流程，不只是展示图书信息，而是尝试构建一个可交互、可分析、可扩展的图书数据智能分析平台。我的展示到这里，谢谢大家。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777240" y="1143000"/>
            <a:ext cx="7269480" cy="1234440"/>
          </a:xfrm>
          <a:prstGeom prst="rect">
            <a:avLst/>
          </a:prstGeom>
          <a:noFill/>
          <a:ln/>
        </p:spPr>
        <p:txBody>
          <a:bodyPr wrap="square" lIns="0" tIns="0" rIns="0" bIns="0" rtlCol="0" anchor="ctr">
            <a:normAutofit/>
          </a:bodyPr>
          <a:lstStyle/>
          <a:p>
            <a:pPr indent="0" marL="0">
              <a:buNone/>
            </a:pPr>
            <a:r>
              <a:rPr lang="en-US" sz="3400" b="1" dirty="0">
                <a:solidFill>
                  <a:srgbClr val="111827"/>
                </a:solidFill>
                <a:latin typeface="Noto Sans CJK SC" pitchFamily="34" charset="0"/>
                <a:ea typeface="Noto Sans CJK SC" pitchFamily="34" charset="-122"/>
                <a:cs typeface="Noto Sans CJK SC" pitchFamily="34" charset="-120"/>
              </a:rPr>
              <a:t>基于云端数据库与大语言模型的</a:t>
            </a:r>
            <a:endParaRPr lang="en-US" sz="3400" dirty="0"/>
          </a:p>
          <a:p>
            <a:pPr indent="0" marL="0">
              <a:buNone/>
            </a:pPr>
            <a:r>
              <a:rPr lang="en-US" sz="3400" b="1" dirty="0">
                <a:solidFill>
                  <a:srgbClr val="111827"/>
                </a:solidFill>
                <a:latin typeface="Noto Sans CJK SC" pitchFamily="34" charset="0"/>
                <a:ea typeface="Noto Sans CJK SC" pitchFamily="34" charset="-122"/>
                <a:cs typeface="Noto Sans CJK SC" pitchFamily="34" charset="-120"/>
              </a:rPr>
              <a:t>图书数据可视化分析平台设计与实现</a:t>
            </a:r>
            <a:endParaRPr lang="en-US" sz="3400" dirty="0"/>
          </a:p>
        </p:txBody>
      </p:sp>
      <p:sp>
        <p:nvSpPr>
          <p:cNvPr id="3" name="Text 1"/>
          <p:cNvSpPr/>
          <p:nvPr/>
        </p:nvSpPr>
        <p:spPr>
          <a:xfrm>
            <a:off x="822960" y="2606040"/>
            <a:ext cx="4754880" cy="320040"/>
          </a:xfrm>
          <a:prstGeom prst="rect">
            <a:avLst/>
          </a:prstGeom>
          <a:noFill/>
          <a:ln/>
        </p:spPr>
        <p:txBody>
          <a:bodyPr wrap="square" lIns="0" tIns="0" rIns="0" bIns="0" rtlCol="0" anchor="ctr"/>
          <a:lstStyle/>
          <a:p>
            <a:pPr indent="0" marL="0">
              <a:buNone/>
            </a:pPr>
            <a:r>
              <a:rPr lang="en-US" sz="1700" dirty="0">
                <a:solidFill>
                  <a:srgbClr val="3C5CCF"/>
                </a:solidFill>
                <a:latin typeface="Noto Sans CJK SC" pitchFamily="34" charset="0"/>
                <a:ea typeface="Noto Sans CJK SC" pitchFamily="34" charset="-122"/>
                <a:cs typeface="Noto Sans CJK SC" pitchFamily="34" charset="-120"/>
              </a:rPr>
              <a:t>以豆瓣读书 Top250 数据为例</a:t>
            </a:r>
            <a:endParaRPr lang="en-US" sz="1700" dirty="0"/>
          </a:p>
        </p:txBody>
      </p:sp>
      <p:sp>
        <p:nvSpPr>
          <p:cNvPr id="4" name="Text 2"/>
          <p:cNvSpPr/>
          <p:nvPr/>
        </p:nvSpPr>
        <p:spPr>
          <a:xfrm>
            <a:off x="841248" y="3291840"/>
            <a:ext cx="1143000" cy="292608"/>
          </a:xfrm>
          <a:prstGeom prst="rect">
            <a:avLst/>
          </a:prstGeom>
          <a:solidFill>
            <a:srgbClr val="E8EEFF"/>
          </a:solidFill>
          <a:ln>
            <a:solidFill>
              <a:srgbClr val="E8EEFF"/>
            </a:solidFill>
          </a:ln>
        </p:spPr>
        <p:txBody>
          <a:bodyPr wrap="square" lIns="635" tIns="635" rIns="635" bIns="635" rtlCol="0" anchor="ctr"/>
          <a:lstStyle/>
          <a:p>
            <a:pPr algn="ctr" indent="0" marL="0">
              <a:buNone/>
            </a:pPr>
            <a:r>
              <a:rPr lang="en-US" sz="1050" b="1" dirty="0">
                <a:solidFill>
                  <a:srgbClr val="3C5CCF"/>
                </a:solidFill>
                <a:latin typeface="Noto Sans CJK SC" pitchFamily="34" charset="0"/>
                <a:ea typeface="Noto Sans CJK SC" pitchFamily="34" charset="-122"/>
                <a:cs typeface="Noto Sans CJK SC" pitchFamily="34" charset="-120"/>
              </a:rPr>
              <a:t>Python 爬虫</a:t>
            </a:r>
            <a:endParaRPr lang="en-US" sz="1050" dirty="0"/>
          </a:p>
        </p:txBody>
      </p:sp>
      <p:sp>
        <p:nvSpPr>
          <p:cNvPr id="5" name="Text 3"/>
          <p:cNvSpPr/>
          <p:nvPr/>
        </p:nvSpPr>
        <p:spPr>
          <a:xfrm>
            <a:off x="2130552" y="3291840"/>
            <a:ext cx="749808" cy="292608"/>
          </a:xfrm>
          <a:prstGeom prst="rect">
            <a:avLst/>
          </a:prstGeom>
          <a:solidFill>
            <a:srgbClr val="E6F8F7"/>
          </a:solidFill>
          <a:ln>
            <a:solidFill>
              <a:srgbClr val="E6F8F7"/>
            </a:solidFill>
          </a:ln>
        </p:spPr>
        <p:txBody>
          <a:bodyPr wrap="square" lIns="635" tIns="635" rIns="635" bIns="635" rtlCol="0" anchor="ctr"/>
          <a:lstStyle/>
          <a:p>
            <a:pPr algn="ctr" indent="0" marL="0">
              <a:buNone/>
            </a:pPr>
            <a:r>
              <a:rPr lang="en-US" sz="1050" b="1" dirty="0">
                <a:solidFill>
                  <a:srgbClr val="0EA5A4"/>
                </a:solidFill>
                <a:latin typeface="Noto Sans CJK SC" pitchFamily="34" charset="0"/>
                <a:ea typeface="Noto Sans CJK SC" pitchFamily="34" charset="-122"/>
                <a:cs typeface="Noto Sans CJK SC" pitchFamily="34" charset="-120"/>
              </a:rPr>
              <a:t>MySQL</a:t>
            </a:r>
            <a:endParaRPr lang="en-US" sz="1050" dirty="0"/>
          </a:p>
        </p:txBody>
      </p:sp>
      <p:sp>
        <p:nvSpPr>
          <p:cNvPr id="6" name="Text 4"/>
          <p:cNvSpPr/>
          <p:nvPr/>
        </p:nvSpPr>
        <p:spPr>
          <a:xfrm>
            <a:off x="3035808" y="3291840"/>
            <a:ext cx="1024128" cy="292608"/>
          </a:xfrm>
          <a:prstGeom prst="rect">
            <a:avLst/>
          </a:prstGeom>
          <a:solidFill>
            <a:srgbClr val="F0EAFE"/>
          </a:solidFill>
          <a:ln>
            <a:solidFill>
              <a:srgbClr val="F0EAFE"/>
            </a:solidFill>
          </a:ln>
        </p:spPr>
        <p:txBody>
          <a:bodyPr wrap="square" lIns="635" tIns="635" rIns="635" bIns="635" rtlCol="0" anchor="ctr"/>
          <a:lstStyle/>
          <a:p>
            <a:pPr algn="ctr" indent="0" marL="0">
              <a:buNone/>
            </a:pPr>
            <a:r>
              <a:rPr lang="en-US" sz="1050" b="1" dirty="0">
                <a:solidFill>
                  <a:srgbClr val="7C3AED"/>
                </a:solidFill>
                <a:latin typeface="Noto Sans CJK SC" pitchFamily="34" charset="0"/>
                <a:ea typeface="Noto Sans CJK SC" pitchFamily="34" charset="-122"/>
                <a:cs typeface="Noto Sans CJK SC" pitchFamily="34" charset="-120"/>
              </a:rPr>
              <a:t>Streamlit</a:t>
            </a:r>
            <a:endParaRPr lang="en-US" sz="1050" dirty="0"/>
          </a:p>
        </p:txBody>
      </p:sp>
      <p:sp>
        <p:nvSpPr>
          <p:cNvPr id="7" name="Text 5"/>
          <p:cNvSpPr/>
          <p:nvPr/>
        </p:nvSpPr>
        <p:spPr>
          <a:xfrm>
            <a:off x="4206240" y="3291840"/>
            <a:ext cx="1298448" cy="292608"/>
          </a:xfrm>
          <a:prstGeom prst="rect">
            <a:avLst/>
          </a:prstGeom>
          <a:solidFill>
            <a:srgbClr val="FFF6E3"/>
          </a:solidFill>
          <a:ln>
            <a:solidFill>
              <a:srgbClr val="FFF6E3"/>
            </a:solidFill>
          </a:ln>
        </p:spPr>
        <p:txBody>
          <a:bodyPr wrap="square" lIns="635" tIns="635" rIns="635" bIns="635" rtlCol="0" anchor="ctr"/>
          <a:lstStyle/>
          <a:p>
            <a:pPr algn="ctr" indent="0" marL="0">
              <a:buNone/>
            </a:pPr>
            <a:r>
              <a:rPr lang="en-US" sz="1050" b="1" dirty="0">
                <a:solidFill>
                  <a:srgbClr val="F59E0B"/>
                </a:solidFill>
                <a:latin typeface="Noto Sans CJK SC" pitchFamily="34" charset="0"/>
                <a:ea typeface="Noto Sans CJK SC" pitchFamily="34" charset="-122"/>
                <a:cs typeface="Noto Sans CJK SC" pitchFamily="34" charset="-120"/>
              </a:rPr>
              <a:t>DeepSeek API</a:t>
            </a:r>
            <a:endParaRPr lang="en-US" sz="1050" dirty="0"/>
          </a:p>
        </p:txBody>
      </p:sp>
      <p:sp>
        <p:nvSpPr>
          <p:cNvPr id="8" name="Shape 6"/>
          <p:cNvSpPr/>
          <p:nvPr/>
        </p:nvSpPr>
        <p:spPr>
          <a:xfrm>
            <a:off x="8869680" y="1234440"/>
            <a:ext cx="2286000" cy="2286000"/>
          </a:xfrm>
          <a:prstGeom prst="arc">
            <a:avLst/>
          </a:prstGeom>
          <a:noFill/>
          <a:ln w="25400">
            <a:solidFill>
              <a:srgbClr val="3C5CCF">
                <a:alpha val="85000"/>
              </a:srgbClr>
            </a:solidFill>
            <a:prstDash val="solid"/>
          </a:ln>
        </p:spPr>
      </p:sp>
      <p:sp>
        <p:nvSpPr>
          <p:cNvPr id="9" name="Shape 7"/>
          <p:cNvSpPr/>
          <p:nvPr/>
        </p:nvSpPr>
        <p:spPr>
          <a:xfrm>
            <a:off x="9189720" y="1572768"/>
            <a:ext cx="1645920" cy="1645920"/>
          </a:xfrm>
          <a:prstGeom prst="arc">
            <a:avLst/>
          </a:prstGeom>
          <a:noFill/>
          <a:ln w="25400">
            <a:solidFill>
              <a:srgbClr val="0EA5A4">
                <a:alpha val="80000"/>
              </a:srgbClr>
            </a:solidFill>
            <a:prstDash val="solid"/>
          </a:ln>
        </p:spPr>
      </p:sp>
      <p:sp>
        <p:nvSpPr>
          <p:cNvPr id="10" name="Shape 8"/>
          <p:cNvSpPr/>
          <p:nvPr/>
        </p:nvSpPr>
        <p:spPr>
          <a:xfrm>
            <a:off x="9491472" y="1874520"/>
            <a:ext cx="1005840" cy="1005840"/>
          </a:xfrm>
          <a:prstGeom prst="arc">
            <a:avLst/>
          </a:prstGeom>
          <a:noFill/>
          <a:ln w="25400">
            <a:solidFill>
              <a:srgbClr val="7C3AED">
                <a:alpha val="80000"/>
              </a:srgbClr>
            </a:solidFill>
            <a:prstDash val="solid"/>
          </a:ln>
        </p:spPr>
      </p:sp>
      <p:sp>
        <p:nvSpPr>
          <p:cNvPr id="11" name="Text 9"/>
          <p:cNvSpPr/>
          <p:nvPr/>
        </p:nvSpPr>
        <p:spPr>
          <a:xfrm>
            <a:off x="7909560" y="4069080"/>
            <a:ext cx="2926080" cy="548640"/>
          </a:xfrm>
          <a:prstGeom prst="rect">
            <a:avLst/>
          </a:prstGeom>
          <a:noFill/>
          <a:ln/>
        </p:spPr>
        <p:txBody>
          <a:bodyPr wrap="square" lIns="0" tIns="0" rIns="0" bIns="0" rtlCol="0" anchor="ctr"/>
          <a:lstStyle/>
          <a:p>
            <a:pPr algn="ctr" indent="0" marL="0">
              <a:buNone/>
            </a:pPr>
            <a:r>
              <a:rPr lang="en-US" sz="1500" b="1" dirty="0">
                <a:solidFill>
                  <a:srgbClr val="111827"/>
                </a:solidFill>
                <a:latin typeface="Noto Sans CJK SC" pitchFamily="34" charset="0"/>
                <a:ea typeface="Noto Sans CJK SC" pitchFamily="34" charset="-122"/>
                <a:cs typeface="Noto Sans CJK SC" pitchFamily="34" charset="-120"/>
              </a:rPr>
              <a:t>从榜单数据到</a:t>
            </a:r>
            <a:endParaRPr lang="en-US" sz="1500" dirty="0"/>
          </a:p>
          <a:p>
            <a:pPr algn="ctr" indent="0" marL="0">
              <a:buNone/>
            </a:pPr>
            <a:r>
              <a:rPr lang="en-US" sz="1500" b="1" dirty="0">
                <a:solidFill>
                  <a:srgbClr val="111827"/>
                </a:solidFill>
                <a:latin typeface="Noto Sans CJK SC" pitchFamily="34" charset="0"/>
                <a:ea typeface="Noto Sans CJK SC" pitchFamily="34" charset="-122"/>
                <a:cs typeface="Noto Sans CJK SC" pitchFamily="34" charset="-120"/>
              </a:rPr>
              <a:t>可交互智能分析平台</a:t>
            </a:r>
            <a:endParaRPr lang="en-US" sz="1500" dirty="0"/>
          </a:p>
        </p:txBody>
      </p:sp>
      <p:sp>
        <p:nvSpPr>
          <p:cNvPr id="12" name="Text 10"/>
          <p:cNvSpPr/>
          <p:nvPr/>
        </p:nvSpPr>
        <p:spPr>
          <a:xfrm>
            <a:off x="841248" y="6080760"/>
            <a:ext cx="2743200" cy="228600"/>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毕业设计展示</a:t>
            </a:r>
            <a:endParaRPr lang="en-US" sz="1050" dirty="0"/>
          </a:p>
        </p:txBody>
      </p:sp>
      <p:sp>
        <p:nvSpPr>
          <p:cNvPr id="14" name="Text 11"/>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1</a:t>
            </a:r>
            <a:endParaRPr lang="en-US" sz="750" dirty="0"/>
          </a:p>
        </p:txBody>
      </p:sp>
      <p:sp>
        <p:nvSpPr>
          <p:cNvPr id="15" name="Text 12"/>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项目背景与目标</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把静态榜单转化为可筛选、可分析、可交互的图书数据平台</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Text 3"/>
          <p:cNvSpPr/>
          <p:nvPr/>
        </p:nvSpPr>
        <p:spPr>
          <a:xfrm>
            <a:off x="658368" y="1508760"/>
            <a:ext cx="4892040" cy="1371600"/>
          </a:xfrm>
          <a:prstGeom prst="rect">
            <a:avLst/>
          </a:prstGeom>
          <a:solidFill>
            <a:srgbClr val="FFFFFF"/>
          </a:solidFill>
          <a:ln w="12700">
            <a:solidFill>
              <a:srgbClr val="E2E8F0"/>
            </a:solidFill>
          </a:ln>
        </p:spPr>
        <p:txBody>
          <a:bodyPr wrap="square" rtlCol="0" anchor="ctr">
            <a:normAutofit/>
          </a:bodyPr>
          <a:lstStyle/>
          <a:p>
            <a:pPr indent="0" marL="0">
              <a:buNone/>
            </a:pPr>
            <a:r>
              <a:rPr lang="en-US" sz="1300" b="1" dirty="0">
                <a:solidFill>
                  <a:srgbClr val="3C5CCF"/>
                </a:solidFill>
                <a:latin typeface="Noto Sans CJK SC" pitchFamily="34" charset="0"/>
                <a:ea typeface="Noto Sans CJK SC" pitchFamily="34" charset="-122"/>
                <a:cs typeface="Noto Sans CJK SC" pitchFamily="34" charset="-120"/>
              </a:rPr>
              <a:t>问题出发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豆瓣读书 Top250 具有高质量图书评价数据，但传统榜单主要是静态浏览，缺少多维度分析和智能交互。</a:t>
            </a:r>
            <a:endParaRPr lang="en-US" sz="1300" dirty="0"/>
          </a:p>
        </p:txBody>
      </p:sp>
      <p:sp>
        <p:nvSpPr>
          <p:cNvPr id="6" name="Text 4"/>
          <p:cNvSpPr/>
          <p:nvPr/>
        </p:nvSpPr>
        <p:spPr>
          <a:xfrm>
            <a:off x="658368" y="3154680"/>
            <a:ext cx="4892040" cy="1371600"/>
          </a:xfrm>
          <a:prstGeom prst="rect">
            <a:avLst/>
          </a:prstGeom>
          <a:solidFill>
            <a:srgbClr val="FFFFFF"/>
          </a:solidFill>
          <a:ln w="12700">
            <a:solidFill>
              <a:srgbClr val="E2E8F0"/>
            </a:solidFill>
          </a:ln>
        </p:spPr>
        <p:txBody>
          <a:bodyPr wrap="square" rtlCol="0" anchor="ctr">
            <a:normAutofit/>
          </a:bodyPr>
          <a:lstStyle/>
          <a:p>
            <a:pPr indent="0" marL="0">
              <a:buNone/>
            </a:pPr>
            <a:r>
              <a:rPr lang="en-US" sz="1300" b="1" dirty="0">
                <a:solidFill>
                  <a:srgbClr val="0EA5A4"/>
                </a:solidFill>
                <a:latin typeface="Noto Sans CJK SC" pitchFamily="34" charset="0"/>
                <a:ea typeface="Noto Sans CJK SC" pitchFamily="34" charset="-122"/>
                <a:cs typeface="Noto Sans CJK SC" pitchFamily="34" charset="-120"/>
              </a:rPr>
              <a:t>项目目标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构建一个从数据采集、清洗、存储到可视化展示和 AI 智能分析的完整系统，并支持云端访问。</a:t>
            </a:r>
            <a:endParaRPr lang="en-US" sz="1300" dirty="0"/>
          </a:p>
        </p:txBody>
      </p:sp>
      <p:sp>
        <p:nvSpPr>
          <p:cNvPr id="7" name="Text 5"/>
          <p:cNvSpPr/>
          <p:nvPr/>
        </p:nvSpPr>
        <p:spPr>
          <a:xfrm>
            <a:off x="6400800" y="1508760"/>
            <a:ext cx="1828800" cy="246888"/>
          </a:xfrm>
          <a:prstGeom prst="rect">
            <a:avLst/>
          </a:prstGeom>
          <a:noFill/>
          <a:ln/>
        </p:spPr>
        <p:txBody>
          <a:bodyPr wrap="square" lIns="0" tIns="0" rIns="0" bIns="0" rtlCol="0" anchor="ctr"/>
          <a:lstStyle/>
          <a:p>
            <a:pPr indent="0" marL="0">
              <a:buNone/>
            </a:pPr>
            <a:r>
              <a:rPr lang="en-US" sz="950" b="1" dirty="0">
                <a:solidFill>
                  <a:srgbClr val="7C3AED"/>
                </a:solidFill>
                <a:latin typeface="Noto Sans CJK SC" pitchFamily="34" charset="0"/>
                <a:ea typeface="Noto Sans CJK SC" pitchFamily="34" charset="-122"/>
                <a:cs typeface="Noto Sans CJK SC" pitchFamily="34" charset="-120"/>
              </a:rPr>
              <a:t>核心能力</a:t>
            </a:r>
            <a:endParaRPr lang="en-US" sz="950" dirty="0"/>
          </a:p>
        </p:txBody>
      </p:sp>
      <p:sp>
        <p:nvSpPr>
          <p:cNvPr id="8" name="Text 6"/>
          <p:cNvSpPr/>
          <p:nvPr/>
        </p:nvSpPr>
        <p:spPr>
          <a:xfrm>
            <a:off x="6419088" y="192938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01</a:t>
            </a:r>
            <a:endParaRPr lang="en-US" sz="750" dirty="0"/>
          </a:p>
        </p:txBody>
      </p:sp>
      <p:sp>
        <p:nvSpPr>
          <p:cNvPr id="9" name="Text 7"/>
          <p:cNvSpPr/>
          <p:nvPr/>
        </p:nvSpPr>
        <p:spPr>
          <a:xfrm>
            <a:off x="6858000" y="1901952"/>
            <a:ext cx="4498848" cy="320040"/>
          </a:xfrm>
          <a:prstGeom prst="rect">
            <a:avLst/>
          </a:prstGeom>
          <a:noFill/>
          <a:ln/>
        </p:spPr>
        <p:txBody>
          <a:bodyPr wrap="square" lIns="0" tIns="0" rIns="0" bIns="0" rtlCol="0" anchor="ctr">
            <a:normAutofit/>
          </a:bodyPr>
          <a:lstStyle/>
          <a:p>
            <a:pPr indent="0" marL="0">
              <a:buNone/>
            </a:pPr>
            <a:r>
              <a:rPr lang="en-US" sz="1320" dirty="0">
                <a:solidFill>
                  <a:srgbClr val="111827"/>
                </a:solidFill>
                <a:latin typeface="Noto Sans CJK SC" pitchFamily="34" charset="0"/>
                <a:ea typeface="Noto Sans CJK SC" pitchFamily="34" charset="-122"/>
                <a:cs typeface="Noto Sans CJK SC" pitchFamily="34" charset="-120"/>
              </a:rPr>
              <a:t>图书信息浏览与筛选</a:t>
            </a:r>
            <a:endParaRPr lang="en-US" sz="1320" dirty="0"/>
          </a:p>
        </p:txBody>
      </p:sp>
      <p:sp>
        <p:nvSpPr>
          <p:cNvPr id="10" name="Text 8"/>
          <p:cNvSpPr/>
          <p:nvPr/>
        </p:nvSpPr>
        <p:spPr>
          <a:xfrm>
            <a:off x="6419088" y="243230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02</a:t>
            </a:r>
            <a:endParaRPr lang="en-US" sz="750" dirty="0"/>
          </a:p>
        </p:txBody>
      </p:sp>
      <p:sp>
        <p:nvSpPr>
          <p:cNvPr id="11" name="Text 9"/>
          <p:cNvSpPr/>
          <p:nvPr/>
        </p:nvSpPr>
        <p:spPr>
          <a:xfrm>
            <a:off x="6858000" y="2404872"/>
            <a:ext cx="4498848" cy="320040"/>
          </a:xfrm>
          <a:prstGeom prst="rect">
            <a:avLst/>
          </a:prstGeom>
          <a:noFill/>
          <a:ln/>
        </p:spPr>
        <p:txBody>
          <a:bodyPr wrap="square" lIns="0" tIns="0" rIns="0" bIns="0" rtlCol="0" anchor="ctr">
            <a:normAutofit/>
          </a:bodyPr>
          <a:lstStyle/>
          <a:p>
            <a:pPr indent="0" marL="0">
              <a:buNone/>
            </a:pPr>
            <a:r>
              <a:rPr lang="en-US" sz="1320" dirty="0">
                <a:solidFill>
                  <a:srgbClr val="111827"/>
                </a:solidFill>
                <a:latin typeface="Noto Sans CJK SC" pitchFamily="34" charset="0"/>
                <a:ea typeface="Noto Sans CJK SC" pitchFamily="34" charset="-122"/>
                <a:cs typeface="Noto Sans CJK SC" pitchFamily="34" charset="-120"/>
              </a:rPr>
              <a:t>评分、热度、年份等多维分析</a:t>
            </a:r>
            <a:endParaRPr lang="en-US" sz="1320" dirty="0"/>
          </a:p>
        </p:txBody>
      </p:sp>
      <p:sp>
        <p:nvSpPr>
          <p:cNvPr id="12" name="Text 10"/>
          <p:cNvSpPr/>
          <p:nvPr/>
        </p:nvSpPr>
        <p:spPr>
          <a:xfrm>
            <a:off x="6419088" y="293522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03</a:t>
            </a:r>
            <a:endParaRPr lang="en-US" sz="750" dirty="0"/>
          </a:p>
        </p:txBody>
      </p:sp>
      <p:sp>
        <p:nvSpPr>
          <p:cNvPr id="13" name="Text 11"/>
          <p:cNvSpPr/>
          <p:nvPr/>
        </p:nvSpPr>
        <p:spPr>
          <a:xfrm>
            <a:off x="6858000" y="2907792"/>
            <a:ext cx="4498848" cy="320040"/>
          </a:xfrm>
          <a:prstGeom prst="rect">
            <a:avLst/>
          </a:prstGeom>
          <a:noFill/>
          <a:ln/>
        </p:spPr>
        <p:txBody>
          <a:bodyPr wrap="square" lIns="0" tIns="0" rIns="0" bIns="0" rtlCol="0" anchor="ctr">
            <a:normAutofit/>
          </a:bodyPr>
          <a:lstStyle/>
          <a:p>
            <a:pPr indent="0" marL="0">
              <a:buNone/>
            </a:pPr>
            <a:r>
              <a:rPr lang="en-US" sz="1320" dirty="0">
                <a:solidFill>
                  <a:srgbClr val="111827"/>
                </a:solidFill>
                <a:latin typeface="Noto Sans CJK SC" pitchFamily="34" charset="0"/>
                <a:ea typeface="Noto Sans CJK SC" pitchFamily="34" charset="-122"/>
                <a:cs typeface="Noto Sans CJK SC" pitchFamily="34" charset="-120"/>
              </a:rPr>
              <a:t>短评文本情感分析</a:t>
            </a:r>
            <a:endParaRPr lang="en-US" sz="1320" dirty="0"/>
          </a:p>
        </p:txBody>
      </p:sp>
      <p:sp>
        <p:nvSpPr>
          <p:cNvPr id="14" name="Text 12"/>
          <p:cNvSpPr/>
          <p:nvPr/>
        </p:nvSpPr>
        <p:spPr>
          <a:xfrm>
            <a:off x="6419088" y="343814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04</a:t>
            </a:r>
            <a:endParaRPr lang="en-US" sz="750" dirty="0"/>
          </a:p>
        </p:txBody>
      </p:sp>
      <p:sp>
        <p:nvSpPr>
          <p:cNvPr id="15" name="Text 13"/>
          <p:cNvSpPr/>
          <p:nvPr/>
        </p:nvSpPr>
        <p:spPr>
          <a:xfrm>
            <a:off x="6858000" y="3410712"/>
            <a:ext cx="4498848" cy="320040"/>
          </a:xfrm>
          <a:prstGeom prst="rect">
            <a:avLst/>
          </a:prstGeom>
          <a:noFill/>
          <a:ln/>
        </p:spPr>
        <p:txBody>
          <a:bodyPr wrap="square" lIns="0" tIns="0" rIns="0" bIns="0" rtlCol="0" anchor="ctr">
            <a:normAutofit/>
          </a:bodyPr>
          <a:lstStyle/>
          <a:p>
            <a:pPr indent="0" marL="0">
              <a:buNone/>
            </a:pPr>
            <a:r>
              <a:rPr lang="en-US" sz="1320" dirty="0">
                <a:solidFill>
                  <a:srgbClr val="111827"/>
                </a:solidFill>
                <a:latin typeface="Noto Sans CJK SC" pitchFamily="34" charset="0"/>
                <a:ea typeface="Noto Sans CJK SC" pitchFamily="34" charset="-122"/>
                <a:cs typeface="Noto Sans CJK SC" pitchFamily="34" charset="-120"/>
              </a:rPr>
              <a:t>推荐关系网络图展示</a:t>
            </a:r>
            <a:endParaRPr lang="en-US" sz="1320" dirty="0"/>
          </a:p>
        </p:txBody>
      </p:sp>
      <p:sp>
        <p:nvSpPr>
          <p:cNvPr id="16" name="Text 14"/>
          <p:cNvSpPr/>
          <p:nvPr/>
        </p:nvSpPr>
        <p:spPr>
          <a:xfrm>
            <a:off x="6419088" y="394106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05</a:t>
            </a:r>
            <a:endParaRPr lang="en-US" sz="750" dirty="0"/>
          </a:p>
        </p:txBody>
      </p:sp>
      <p:sp>
        <p:nvSpPr>
          <p:cNvPr id="17" name="Text 15"/>
          <p:cNvSpPr/>
          <p:nvPr/>
        </p:nvSpPr>
        <p:spPr>
          <a:xfrm>
            <a:off x="6858000" y="3913632"/>
            <a:ext cx="4498848" cy="320040"/>
          </a:xfrm>
          <a:prstGeom prst="rect">
            <a:avLst/>
          </a:prstGeom>
          <a:noFill/>
          <a:ln/>
        </p:spPr>
        <p:txBody>
          <a:bodyPr wrap="square" lIns="0" tIns="0" rIns="0" bIns="0" rtlCol="0" anchor="ctr">
            <a:normAutofit/>
          </a:bodyPr>
          <a:lstStyle/>
          <a:p>
            <a:pPr indent="0" marL="0">
              <a:buNone/>
            </a:pPr>
            <a:r>
              <a:rPr lang="en-US" sz="1320" dirty="0">
                <a:solidFill>
                  <a:srgbClr val="111827"/>
                </a:solidFill>
                <a:latin typeface="Noto Sans CJK SC" pitchFamily="34" charset="0"/>
                <a:ea typeface="Noto Sans CJK SC" pitchFamily="34" charset="-122"/>
                <a:cs typeface="Noto Sans CJK SC" pitchFamily="34" charset="-120"/>
              </a:rPr>
              <a:t>AI 阅读指南与智能荐书</a:t>
            </a:r>
            <a:endParaRPr lang="en-US" sz="1320" dirty="0"/>
          </a:p>
        </p:txBody>
      </p:sp>
      <p:sp>
        <p:nvSpPr>
          <p:cNvPr id="18" name="Text 16"/>
          <p:cNvSpPr/>
          <p:nvPr/>
        </p:nvSpPr>
        <p:spPr>
          <a:xfrm>
            <a:off x="6419088" y="444398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06</a:t>
            </a:r>
            <a:endParaRPr lang="en-US" sz="750" dirty="0"/>
          </a:p>
        </p:txBody>
      </p:sp>
      <p:sp>
        <p:nvSpPr>
          <p:cNvPr id="19" name="Text 17"/>
          <p:cNvSpPr/>
          <p:nvPr/>
        </p:nvSpPr>
        <p:spPr>
          <a:xfrm>
            <a:off x="6858000" y="4416552"/>
            <a:ext cx="4498848" cy="320040"/>
          </a:xfrm>
          <a:prstGeom prst="rect">
            <a:avLst/>
          </a:prstGeom>
          <a:noFill/>
          <a:ln/>
        </p:spPr>
        <p:txBody>
          <a:bodyPr wrap="square" lIns="0" tIns="0" rIns="0" bIns="0" rtlCol="0" anchor="ctr">
            <a:normAutofit/>
          </a:bodyPr>
          <a:lstStyle/>
          <a:p>
            <a:pPr indent="0" marL="0">
              <a:buNone/>
            </a:pPr>
            <a:r>
              <a:rPr lang="en-US" sz="1320" dirty="0">
                <a:solidFill>
                  <a:srgbClr val="111827"/>
                </a:solidFill>
                <a:latin typeface="Noto Sans CJK SC" pitchFamily="34" charset="0"/>
                <a:ea typeface="Noto Sans CJK SC" pitchFamily="34" charset="-122"/>
                <a:cs typeface="Noto Sans CJK SC" pitchFamily="34" charset="-120"/>
              </a:rPr>
              <a:t>用户个人书库与云端部署</a:t>
            </a:r>
            <a:endParaRPr lang="en-US" sz="1320" dirty="0"/>
          </a:p>
        </p:txBody>
      </p:sp>
      <p:sp>
        <p:nvSpPr>
          <p:cNvPr id="21" name="Text 18"/>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2</a:t>
            </a:r>
            <a:endParaRPr lang="en-US" sz="750" dirty="0"/>
          </a:p>
        </p:txBody>
      </p:sp>
      <p:sp>
        <p:nvSpPr>
          <p:cNvPr id="22" name="Text 19"/>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系统整体流程</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数据从网页进入数据库，再通过平台展示、分析和智能问答</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Shape 3"/>
          <p:cNvSpPr/>
          <p:nvPr/>
        </p:nvSpPr>
        <p:spPr>
          <a:xfrm>
            <a:off x="2112264" y="2514600"/>
            <a:ext cx="320040" cy="0"/>
          </a:xfrm>
          <a:prstGeom prst="line">
            <a:avLst/>
          </a:prstGeom>
          <a:noFill/>
          <a:ln w="13970">
            <a:solidFill>
              <a:srgbClr val="94A3B8"/>
            </a:solidFill>
            <a:prstDash val="solid"/>
            <a:tailEnd type="triangle"/>
          </a:ln>
        </p:spPr>
      </p:sp>
      <p:sp>
        <p:nvSpPr>
          <p:cNvPr id="6" name="Shape 4"/>
          <p:cNvSpPr/>
          <p:nvPr/>
        </p:nvSpPr>
        <p:spPr>
          <a:xfrm>
            <a:off x="3986784" y="2514600"/>
            <a:ext cx="320040" cy="0"/>
          </a:xfrm>
          <a:prstGeom prst="line">
            <a:avLst/>
          </a:prstGeom>
          <a:noFill/>
          <a:ln w="13970">
            <a:solidFill>
              <a:srgbClr val="94A3B8"/>
            </a:solidFill>
            <a:prstDash val="solid"/>
            <a:tailEnd type="triangle"/>
          </a:ln>
        </p:spPr>
      </p:sp>
      <p:sp>
        <p:nvSpPr>
          <p:cNvPr id="7" name="Shape 5"/>
          <p:cNvSpPr/>
          <p:nvPr/>
        </p:nvSpPr>
        <p:spPr>
          <a:xfrm>
            <a:off x="5861304" y="2514600"/>
            <a:ext cx="320040" cy="0"/>
          </a:xfrm>
          <a:prstGeom prst="line">
            <a:avLst/>
          </a:prstGeom>
          <a:noFill/>
          <a:ln w="13970">
            <a:solidFill>
              <a:srgbClr val="94A3B8"/>
            </a:solidFill>
            <a:prstDash val="solid"/>
            <a:tailEnd type="triangle"/>
          </a:ln>
        </p:spPr>
      </p:sp>
      <p:sp>
        <p:nvSpPr>
          <p:cNvPr id="8" name="Shape 6"/>
          <p:cNvSpPr/>
          <p:nvPr/>
        </p:nvSpPr>
        <p:spPr>
          <a:xfrm>
            <a:off x="7735824" y="2514600"/>
            <a:ext cx="320040" cy="0"/>
          </a:xfrm>
          <a:prstGeom prst="line">
            <a:avLst/>
          </a:prstGeom>
          <a:noFill/>
          <a:ln w="13970">
            <a:solidFill>
              <a:srgbClr val="94A3B8"/>
            </a:solidFill>
            <a:prstDash val="solid"/>
            <a:tailEnd type="triangle"/>
          </a:ln>
        </p:spPr>
      </p:sp>
      <p:sp>
        <p:nvSpPr>
          <p:cNvPr id="9" name="Shape 7"/>
          <p:cNvSpPr/>
          <p:nvPr/>
        </p:nvSpPr>
        <p:spPr>
          <a:xfrm>
            <a:off x="9610344" y="2514600"/>
            <a:ext cx="320040" cy="0"/>
          </a:xfrm>
          <a:prstGeom prst="line">
            <a:avLst/>
          </a:prstGeom>
          <a:noFill/>
          <a:ln w="13970">
            <a:solidFill>
              <a:srgbClr val="94A3B8"/>
            </a:solidFill>
            <a:prstDash val="solid"/>
            <a:tailEnd type="triangle"/>
          </a:ln>
        </p:spPr>
      </p:sp>
      <p:sp>
        <p:nvSpPr>
          <p:cNvPr id="10" name="Text 8"/>
          <p:cNvSpPr/>
          <p:nvPr/>
        </p:nvSpPr>
        <p:spPr>
          <a:xfrm>
            <a:off x="594360" y="2011680"/>
            <a:ext cx="1481328"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3C5CCF"/>
                </a:solidFill>
                <a:latin typeface="Noto Sans CJK SC" pitchFamily="34" charset="0"/>
                <a:ea typeface="Noto Sans CJK SC" pitchFamily="34" charset="-122"/>
                <a:cs typeface="Noto Sans CJK SC" pitchFamily="34" charset="-120"/>
              </a:rPr>
              <a:t>数据采集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豆瓣 Top250</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列表页与详情页</a:t>
            </a:r>
            <a:endParaRPr lang="en-US" sz="1050" dirty="0"/>
          </a:p>
        </p:txBody>
      </p:sp>
      <p:sp>
        <p:nvSpPr>
          <p:cNvPr id="11" name="Text 9"/>
          <p:cNvSpPr/>
          <p:nvPr/>
        </p:nvSpPr>
        <p:spPr>
          <a:xfrm>
            <a:off x="2468880" y="2011680"/>
            <a:ext cx="1481328"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0EA5A4"/>
                </a:solidFill>
                <a:latin typeface="Noto Sans CJK SC" pitchFamily="34" charset="0"/>
                <a:ea typeface="Noto Sans CJK SC" pitchFamily="34" charset="-122"/>
                <a:cs typeface="Noto Sans CJK SC" pitchFamily="34" charset="-120"/>
              </a:rPr>
              <a:t>数据清洗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字段整理</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年份提取</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短评结构化</a:t>
            </a:r>
            <a:endParaRPr lang="en-US" sz="1050" dirty="0"/>
          </a:p>
        </p:txBody>
      </p:sp>
      <p:sp>
        <p:nvSpPr>
          <p:cNvPr id="12" name="Text 10"/>
          <p:cNvSpPr/>
          <p:nvPr/>
        </p:nvSpPr>
        <p:spPr>
          <a:xfrm>
            <a:off x="4343400" y="2011680"/>
            <a:ext cx="1481328"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7C3AED"/>
                </a:solidFill>
                <a:latin typeface="Noto Sans CJK SC" pitchFamily="34" charset="0"/>
                <a:ea typeface="Noto Sans CJK SC" pitchFamily="34" charset="-122"/>
                <a:cs typeface="Noto Sans CJK SC" pitchFamily="34" charset="-120"/>
              </a:rPr>
              <a:t>数据库存储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本地 MySQL</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Railway MySQL</a:t>
            </a:r>
            <a:endParaRPr lang="en-US" sz="1050" dirty="0"/>
          </a:p>
        </p:txBody>
      </p:sp>
      <p:sp>
        <p:nvSpPr>
          <p:cNvPr id="13" name="Text 11"/>
          <p:cNvSpPr/>
          <p:nvPr/>
        </p:nvSpPr>
        <p:spPr>
          <a:xfrm>
            <a:off x="6217920" y="2011680"/>
            <a:ext cx="1481328"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F59E0B"/>
                </a:solidFill>
                <a:latin typeface="Noto Sans CJK SC" pitchFamily="34" charset="0"/>
                <a:ea typeface="Noto Sans CJK SC" pitchFamily="34" charset="-122"/>
                <a:cs typeface="Noto Sans CJK SC" pitchFamily="34" charset="-120"/>
              </a:rPr>
              <a:t>Web 平台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Streamlit</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筛选与展示</a:t>
            </a:r>
            <a:endParaRPr lang="en-US" sz="1050" dirty="0"/>
          </a:p>
        </p:txBody>
      </p:sp>
      <p:sp>
        <p:nvSpPr>
          <p:cNvPr id="14" name="Text 12"/>
          <p:cNvSpPr/>
          <p:nvPr/>
        </p:nvSpPr>
        <p:spPr>
          <a:xfrm>
            <a:off x="8092440" y="2011680"/>
            <a:ext cx="1481328"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EF4444"/>
                </a:solidFill>
                <a:latin typeface="Noto Sans CJK SC" pitchFamily="34" charset="0"/>
                <a:ea typeface="Noto Sans CJK SC" pitchFamily="34" charset="-122"/>
                <a:cs typeface="Noto Sans CJK SC" pitchFamily="34" charset="-120"/>
              </a:rPr>
              <a:t>可视化分析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Plotly</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NetworkX / PyVis</a:t>
            </a:r>
            <a:endParaRPr lang="en-US" sz="1050" dirty="0"/>
          </a:p>
        </p:txBody>
      </p:sp>
      <p:sp>
        <p:nvSpPr>
          <p:cNvPr id="15" name="Text 13"/>
          <p:cNvSpPr/>
          <p:nvPr/>
        </p:nvSpPr>
        <p:spPr>
          <a:xfrm>
            <a:off x="9966960" y="2011680"/>
            <a:ext cx="1481328"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0F172A"/>
                </a:solidFill>
                <a:latin typeface="Noto Sans CJK SC" pitchFamily="34" charset="0"/>
                <a:ea typeface="Noto Sans CJK SC" pitchFamily="34" charset="-122"/>
                <a:cs typeface="Noto Sans CJK SC" pitchFamily="34" charset="-120"/>
              </a:rPr>
              <a:t>AI 分析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DeepSeek API</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智能荐书与报告</a:t>
            </a:r>
            <a:endParaRPr lang="en-US" sz="1050" dirty="0"/>
          </a:p>
        </p:txBody>
      </p:sp>
      <p:sp>
        <p:nvSpPr>
          <p:cNvPr id="16" name="Text 14"/>
          <p:cNvSpPr/>
          <p:nvPr/>
        </p:nvSpPr>
        <p:spPr>
          <a:xfrm>
            <a:off x="1828800" y="3886200"/>
            <a:ext cx="8595360" cy="822960"/>
          </a:xfrm>
          <a:prstGeom prst="rect">
            <a:avLst/>
          </a:prstGeom>
          <a:solidFill>
            <a:srgbClr val="F9FAFB"/>
          </a:solidFill>
          <a:ln w="12700">
            <a:solidFill>
              <a:srgbClr val="E2E8F0"/>
            </a:solidFill>
          </a:ln>
        </p:spPr>
        <p:txBody>
          <a:bodyPr wrap="square" rtlCol="0" anchor="ctr">
            <a:normAutofit/>
          </a:bodyPr>
          <a:lstStyle/>
          <a:p>
            <a:pPr indent="0" marL="0">
              <a:buNone/>
            </a:pPr>
            <a:r>
              <a:rPr lang="en-US" sz="1500" b="1" dirty="0">
                <a:solidFill>
                  <a:srgbClr val="3C5CCF"/>
                </a:solidFill>
                <a:latin typeface="Noto Sans CJK SC" pitchFamily="34" charset="0"/>
                <a:ea typeface="Noto Sans CJK SC" pitchFamily="34" charset="-122"/>
                <a:cs typeface="Noto Sans CJK SC" pitchFamily="34" charset="-120"/>
              </a:rPr>
              <a:t>一句话概括
</a:t>
            </a:r>
            <a:endParaRPr lang="en-US" sz="1500" dirty="0"/>
          </a:p>
          <a:p>
            <a:pPr indent="0" marL="0">
              <a:buNone/>
            </a:pPr>
            <a:r>
              <a:rPr lang="en-US" sz="1500" dirty="0">
                <a:solidFill>
                  <a:srgbClr val="64748B"/>
                </a:solidFill>
                <a:latin typeface="Noto Sans CJK SC" pitchFamily="34" charset="0"/>
                <a:ea typeface="Noto Sans CJK SC" pitchFamily="34" charset="-122"/>
                <a:cs typeface="Noto Sans CJK SC" pitchFamily="34" charset="-120"/>
              </a:rPr>
              <a:t>本项目完成了“数据获取 → 数据处理 → 数据存储 → 交互展示 → AI 辅助分析”的闭环流程。</a:t>
            </a:r>
            <a:endParaRPr lang="en-US" sz="1500" dirty="0"/>
          </a:p>
        </p:txBody>
      </p:sp>
      <p:sp>
        <p:nvSpPr>
          <p:cNvPr id="17" name="Text 15"/>
          <p:cNvSpPr/>
          <p:nvPr/>
        </p:nvSpPr>
        <p:spPr>
          <a:xfrm>
            <a:off x="1097280" y="5349240"/>
            <a:ext cx="2011680" cy="438912"/>
          </a:xfrm>
          <a:prstGeom prst="rect">
            <a:avLst/>
          </a:prstGeom>
          <a:noFill/>
          <a:ln/>
        </p:spPr>
        <p:txBody>
          <a:bodyPr wrap="square" lIns="0" tIns="0" rIns="0" bIns="0" rtlCol="0" anchor="ctr"/>
          <a:lstStyle/>
          <a:p>
            <a:pPr indent="0" marL="0">
              <a:buNone/>
            </a:pPr>
            <a:r>
              <a:rPr lang="en-US" sz="2300" b="1" dirty="0">
                <a:solidFill>
                  <a:srgbClr val="3C5CCF"/>
                </a:solidFill>
                <a:latin typeface="Noto Sans CJK SC" pitchFamily="34" charset="0"/>
                <a:ea typeface="Noto Sans CJK SC" pitchFamily="34" charset="-122"/>
                <a:cs typeface="Noto Sans CJK SC" pitchFamily="34" charset="-120"/>
              </a:rPr>
              <a:t>250 本</a:t>
            </a:r>
            <a:endParaRPr lang="en-US" sz="2300" dirty="0"/>
          </a:p>
        </p:txBody>
      </p:sp>
      <p:sp>
        <p:nvSpPr>
          <p:cNvPr id="18" name="Text 16"/>
          <p:cNvSpPr/>
          <p:nvPr/>
        </p:nvSpPr>
        <p:spPr>
          <a:xfrm>
            <a:off x="1097280" y="5788152"/>
            <a:ext cx="2011680" cy="228600"/>
          </a:xfrm>
          <a:prstGeom prst="rect">
            <a:avLst/>
          </a:prstGeom>
          <a:noFill/>
          <a:ln/>
        </p:spPr>
        <p:txBody>
          <a:bodyPr wrap="square" lIns="0" tIns="0" rIns="0" bIns="0" rtlCol="0" anchor="ctr"/>
          <a:lstStyle/>
          <a:p>
            <a:pPr indent="0" marL="0">
              <a:buNone/>
            </a:pPr>
            <a:r>
              <a:rPr lang="en-US" sz="920" dirty="0">
                <a:solidFill>
                  <a:srgbClr val="64748B"/>
                </a:solidFill>
                <a:latin typeface="Noto Sans CJK SC" pitchFamily="34" charset="0"/>
                <a:ea typeface="Noto Sans CJK SC" pitchFamily="34" charset="-122"/>
                <a:cs typeface="Noto Sans CJK SC" pitchFamily="34" charset="-120"/>
              </a:rPr>
              <a:t>公共书库规模</a:t>
            </a:r>
            <a:endParaRPr lang="en-US" sz="920" dirty="0"/>
          </a:p>
        </p:txBody>
      </p:sp>
      <p:sp>
        <p:nvSpPr>
          <p:cNvPr id="19" name="Text 17"/>
          <p:cNvSpPr/>
          <p:nvPr/>
        </p:nvSpPr>
        <p:spPr>
          <a:xfrm>
            <a:off x="3657600" y="5349240"/>
            <a:ext cx="2011680" cy="438912"/>
          </a:xfrm>
          <a:prstGeom prst="rect">
            <a:avLst/>
          </a:prstGeom>
          <a:noFill/>
          <a:ln/>
        </p:spPr>
        <p:txBody>
          <a:bodyPr wrap="square" lIns="0" tIns="0" rIns="0" bIns="0" rtlCol="0" anchor="ctr"/>
          <a:lstStyle/>
          <a:p>
            <a:pPr indent="0" marL="0">
              <a:buNone/>
            </a:pPr>
            <a:r>
              <a:rPr lang="en-US" sz="2300" b="1" dirty="0">
                <a:solidFill>
                  <a:srgbClr val="0EA5A4"/>
                </a:solidFill>
                <a:latin typeface="Noto Sans CJK SC" pitchFamily="34" charset="0"/>
                <a:ea typeface="Noto Sans CJK SC" pitchFamily="34" charset="-122"/>
                <a:cs typeface="Noto Sans CJK SC" pitchFamily="34" charset="-120"/>
              </a:rPr>
              <a:t>9.07</a:t>
            </a:r>
            <a:endParaRPr lang="en-US" sz="2300" dirty="0"/>
          </a:p>
        </p:txBody>
      </p:sp>
      <p:sp>
        <p:nvSpPr>
          <p:cNvPr id="20" name="Text 18"/>
          <p:cNvSpPr/>
          <p:nvPr/>
        </p:nvSpPr>
        <p:spPr>
          <a:xfrm>
            <a:off x="3657600" y="5788152"/>
            <a:ext cx="2011680" cy="228600"/>
          </a:xfrm>
          <a:prstGeom prst="rect">
            <a:avLst/>
          </a:prstGeom>
          <a:noFill/>
          <a:ln/>
        </p:spPr>
        <p:txBody>
          <a:bodyPr wrap="square" lIns="0" tIns="0" rIns="0" bIns="0" rtlCol="0" anchor="ctr"/>
          <a:lstStyle/>
          <a:p>
            <a:pPr indent="0" marL="0">
              <a:buNone/>
            </a:pPr>
            <a:r>
              <a:rPr lang="en-US" sz="920" dirty="0">
                <a:solidFill>
                  <a:srgbClr val="64748B"/>
                </a:solidFill>
                <a:latin typeface="Noto Sans CJK SC" pitchFamily="34" charset="0"/>
                <a:ea typeface="Noto Sans CJK SC" pitchFamily="34" charset="-122"/>
                <a:cs typeface="Noto Sans CJK SC" pitchFamily="34" charset="-120"/>
              </a:rPr>
              <a:t>平均评分</a:t>
            </a:r>
            <a:endParaRPr lang="en-US" sz="920" dirty="0"/>
          </a:p>
        </p:txBody>
      </p:sp>
      <p:sp>
        <p:nvSpPr>
          <p:cNvPr id="21" name="Text 19"/>
          <p:cNvSpPr/>
          <p:nvPr/>
        </p:nvSpPr>
        <p:spPr>
          <a:xfrm>
            <a:off x="6217920" y="5349240"/>
            <a:ext cx="2194560" cy="438912"/>
          </a:xfrm>
          <a:prstGeom prst="rect">
            <a:avLst/>
          </a:prstGeom>
          <a:noFill/>
          <a:ln/>
        </p:spPr>
        <p:txBody>
          <a:bodyPr wrap="square" lIns="0" tIns="0" rIns="0" bIns="0" rtlCol="0" anchor="ctr"/>
          <a:lstStyle/>
          <a:p>
            <a:pPr indent="0" marL="0">
              <a:buNone/>
            </a:pPr>
            <a:r>
              <a:rPr lang="en-US" sz="2300" b="1" dirty="0">
                <a:solidFill>
                  <a:srgbClr val="7C3AED"/>
                </a:solidFill>
                <a:latin typeface="Noto Sans CJK SC" pitchFamily="34" charset="0"/>
                <a:ea typeface="Noto Sans CJK SC" pitchFamily="34" charset="-122"/>
                <a:cs typeface="Noto Sans CJK SC" pitchFamily="34" charset="-120"/>
              </a:rPr>
              <a:t>1962–2023</a:t>
            </a:r>
            <a:endParaRPr lang="en-US" sz="2300" dirty="0"/>
          </a:p>
        </p:txBody>
      </p:sp>
      <p:sp>
        <p:nvSpPr>
          <p:cNvPr id="22" name="Text 20"/>
          <p:cNvSpPr/>
          <p:nvPr/>
        </p:nvSpPr>
        <p:spPr>
          <a:xfrm>
            <a:off x="6217920" y="5788152"/>
            <a:ext cx="2194560" cy="228600"/>
          </a:xfrm>
          <a:prstGeom prst="rect">
            <a:avLst/>
          </a:prstGeom>
          <a:noFill/>
          <a:ln/>
        </p:spPr>
        <p:txBody>
          <a:bodyPr wrap="square" lIns="0" tIns="0" rIns="0" bIns="0" rtlCol="0" anchor="ctr"/>
          <a:lstStyle/>
          <a:p>
            <a:pPr indent="0" marL="0">
              <a:buNone/>
            </a:pPr>
            <a:r>
              <a:rPr lang="en-US" sz="920" dirty="0">
                <a:solidFill>
                  <a:srgbClr val="64748B"/>
                </a:solidFill>
                <a:latin typeface="Noto Sans CJK SC" pitchFamily="34" charset="0"/>
                <a:ea typeface="Noto Sans CJK SC" pitchFamily="34" charset="-122"/>
                <a:cs typeface="Noto Sans CJK SC" pitchFamily="34" charset="-120"/>
              </a:rPr>
              <a:t>年份范围</a:t>
            </a:r>
            <a:endParaRPr lang="en-US" sz="920" dirty="0"/>
          </a:p>
        </p:txBody>
      </p:sp>
      <p:sp>
        <p:nvSpPr>
          <p:cNvPr id="23" name="Text 21"/>
          <p:cNvSpPr/>
          <p:nvPr/>
        </p:nvSpPr>
        <p:spPr>
          <a:xfrm>
            <a:off x="9144000" y="5349240"/>
            <a:ext cx="2011680" cy="438912"/>
          </a:xfrm>
          <a:prstGeom prst="rect">
            <a:avLst/>
          </a:prstGeom>
          <a:noFill/>
          <a:ln/>
        </p:spPr>
        <p:txBody>
          <a:bodyPr wrap="square" lIns="0" tIns="0" rIns="0" bIns="0" rtlCol="0" anchor="ctr"/>
          <a:lstStyle/>
          <a:p>
            <a:pPr indent="0" marL="0">
              <a:buNone/>
            </a:pPr>
            <a:r>
              <a:rPr lang="en-US" sz="2300" b="1" dirty="0">
                <a:solidFill>
                  <a:srgbClr val="F59E0B"/>
                </a:solidFill>
                <a:latin typeface="Noto Sans CJK SC" pitchFamily="34" charset="0"/>
                <a:ea typeface="Noto Sans CJK SC" pitchFamily="34" charset="-122"/>
                <a:cs typeface="Noto Sans CJK SC" pitchFamily="34" charset="-120"/>
              </a:rPr>
              <a:t>194 万+</a:t>
            </a:r>
            <a:endParaRPr lang="en-US" sz="2300" dirty="0"/>
          </a:p>
        </p:txBody>
      </p:sp>
      <p:sp>
        <p:nvSpPr>
          <p:cNvPr id="24" name="Text 22"/>
          <p:cNvSpPr/>
          <p:nvPr/>
        </p:nvSpPr>
        <p:spPr>
          <a:xfrm>
            <a:off x="9144000" y="5788152"/>
            <a:ext cx="2011680" cy="228600"/>
          </a:xfrm>
          <a:prstGeom prst="rect">
            <a:avLst/>
          </a:prstGeom>
          <a:noFill/>
          <a:ln/>
        </p:spPr>
        <p:txBody>
          <a:bodyPr wrap="square" lIns="0" tIns="0" rIns="0" bIns="0" rtlCol="0" anchor="ctr"/>
          <a:lstStyle/>
          <a:p>
            <a:pPr indent="0" marL="0">
              <a:buNone/>
            </a:pPr>
            <a:r>
              <a:rPr lang="en-US" sz="920" dirty="0">
                <a:solidFill>
                  <a:srgbClr val="64748B"/>
                </a:solidFill>
                <a:latin typeface="Noto Sans CJK SC" pitchFamily="34" charset="0"/>
                <a:ea typeface="Noto Sans CJK SC" pitchFamily="34" charset="-122"/>
                <a:cs typeface="Noto Sans CJK SC" pitchFamily="34" charset="-120"/>
              </a:rPr>
              <a:t>热度总量</a:t>
            </a:r>
            <a:endParaRPr lang="en-US" sz="920" dirty="0"/>
          </a:p>
        </p:txBody>
      </p:sp>
      <p:sp>
        <p:nvSpPr>
          <p:cNvPr id="26" name="Text 23"/>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3</a:t>
            </a:r>
            <a:endParaRPr lang="en-US" sz="750" dirty="0"/>
          </a:p>
        </p:txBody>
      </p:sp>
      <p:sp>
        <p:nvSpPr>
          <p:cNvPr id="27" name="Text 24"/>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数据采集与清洗</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从列表页和详情页采集字段，再转换为可分析的数据结构</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Text 3"/>
          <p:cNvSpPr/>
          <p:nvPr/>
        </p:nvSpPr>
        <p:spPr>
          <a:xfrm>
            <a:off x="731520" y="1444752"/>
            <a:ext cx="1828800" cy="246888"/>
          </a:xfrm>
          <a:prstGeom prst="rect">
            <a:avLst/>
          </a:prstGeom>
          <a:noFill/>
          <a:ln/>
        </p:spPr>
        <p:txBody>
          <a:bodyPr wrap="square" lIns="0" tIns="0" rIns="0" bIns="0" rtlCol="0" anchor="ctr"/>
          <a:lstStyle/>
          <a:p>
            <a:pPr indent="0" marL="0">
              <a:buNone/>
            </a:pPr>
            <a:r>
              <a:rPr lang="en-US" sz="950" b="1" dirty="0">
                <a:solidFill>
                  <a:srgbClr val="3C5CCF"/>
                </a:solidFill>
                <a:latin typeface="Noto Sans CJK SC" pitchFamily="34" charset="0"/>
                <a:ea typeface="Noto Sans CJK SC" pitchFamily="34" charset="-122"/>
                <a:cs typeface="Noto Sans CJK SC" pitchFamily="34" charset="-120"/>
              </a:rPr>
              <a:t>采集字段</a:t>
            </a:r>
            <a:endParaRPr lang="en-US" sz="950" dirty="0"/>
          </a:p>
        </p:txBody>
      </p:sp>
      <p:sp>
        <p:nvSpPr>
          <p:cNvPr id="6" name="Text 4"/>
          <p:cNvSpPr/>
          <p:nvPr/>
        </p:nvSpPr>
        <p:spPr>
          <a:xfrm>
            <a:off x="749808" y="1828800"/>
            <a:ext cx="1298448" cy="292608"/>
          </a:xfrm>
          <a:prstGeom prst="rect">
            <a:avLst/>
          </a:prstGeom>
          <a:solidFill>
            <a:srgbClr val="E8EEFF"/>
          </a:solidFill>
          <a:ln>
            <a:solidFill>
              <a:srgbClr val="E8EEFF"/>
            </a:solidFill>
          </a:ln>
        </p:spPr>
        <p:txBody>
          <a:bodyPr wrap="square" lIns="635" tIns="635" rIns="635" bIns="635" rtlCol="0" anchor="ctr"/>
          <a:lstStyle/>
          <a:p>
            <a:pPr algn="ctr" indent="0" marL="0">
              <a:buNone/>
            </a:pPr>
            <a:r>
              <a:rPr lang="en-US" sz="1050" b="1" dirty="0">
                <a:solidFill>
                  <a:srgbClr val="3C5CCF"/>
                </a:solidFill>
                <a:latin typeface="Noto Sans CJK SC" pitchFamily="34" charset="0"/>
                <a:ea typeface="Noto Sans CJK SC" pitchFamily="34" charset="-122"/>
                <a:cs typeface="Noto Sans CJK SC" pitchFamily="34" charset="-120"/>
              </a:rPr>
              <a:t>书名</a:t>
            </a:r>
            <a:endParaRPr lang="en-US" sz="1050" dirty="0"/>
          </a:p>
        </p:txBody>
      </p:sp>
      <p:sp>
        <p:nvSpPr>
          <p:cNvPr id="7" name="Text 5"/>
          <p:cNvSpPr/>
          <p:nvPr/>
        </p:nvSpPr>
        <p:spPr>
          <a:xfrm>
            <a:off x="2322576" y="1828800"/>
            <a:ext cx="1298448" cy="292608"/>
          </a:xfrm>
          <a:prstGeom prst="rect">
            <a:avLst/>
          </a:prstGeom>
          <a:solidFill>
            <a:srgbClr val="E6F8F7"/>
          </a:solidFill>
          <a:ln>
            <a:solidFill>
              <a:srgbClr val="E6F8F7"/>
            </a:solidFill>
          </a:ln>
        </p:spPr>
        <p:txBody>
          <a:bodyPr wrap="square" lIns="635" tIns="635" rIns="635" bIns="635" rtlCol="0" anchor="ctr"/>
          <a:lstStyle/>
          <a:p>
            <a:pPr algn="ctr" indent="0" marL="0">
              <a:buNone/>
            </a:pPr>
            <a:r>
              <a:rPr lang="en-US" sz="1050" b="1" dirty="0">
                <a:solidFill>
                  <a:srgbClr val="0EA5A4"/>
                </a:solidFill>
                <a:latin typeface="Noto Sans CJK SC" pitchFamily="34" charset="0"/>
                <a:ea typeface="Noto Sans CJK SC" pitchFamily="34" charset="-122"/>
                <a:cs typeface="Noto Sans CJK SC" pitchFamily="34" charset="-120"/>
              </a:rPr>
              <a:t>评分</a:t>
            </a:r>
            <a:endParaRPr lang="en-US" sz="1050" dirty="0"/>
          </a:p>
        </p:txBody>
      </p:sp>
      <p:sp>
        <p:nvSpPr>
          <p:cNvPr id="8" name="Text 6"/>
          <p:cNvSpPr/>
          <p:nvPr/>
        </p:nvSpPr>
        <p:spPr>
          <a:xfrm>
            <a:off x="3895344" y="1828800"/>
            <a:ext cx="1298448" cy="292608"/>
          </a:xfrm>
          <a:prstGeom prst="rect">
            <a:avLst/>
          </a:prstGeom>
          <a:solidFill>
            <a:srgbClr val="F0EAFE"/>
          </a:solidFill>
          <a:ln>
            <a:solidFill>
              <a:srgbClr val="F0EAFE"/>
            </a:solidFill>
          </a:ln>
        </p:spPr>
        <p:txBody>
          <a:bodyPr wrap="square" lIns="635" tIns="635" rIns="635" bIns="635" rtlCol="0" anchor="ctr"/>
          <a:lstStyle/>
          <a:p>
            <a:pPr algn="ctr" indent="0" marL="0">
              <a:buNone/>
            </a:pPr>
            <a:r>
              <a:rPr lang="en-US" sz="1050" b="1" dirty="0">
                <a:solidFill>
                  <a:srgbClr val="7C3AED"/>
                </a:solidFill>
                <a:latin typeface="Noto Sans CJK SC" pitchFamily="34" charset="0"/>
                <a:ea typeface="Noto Sans CJK SC" pitchFamily="34" charset="-122"/>
                <a:cs typeface="Noto Sans CJK SC" pitchFamily="34" charset="-120"/>
              </a:rPr>
              <a:t>作者/出版信息</a:t>
            </a:r>
            <a:endParaRPr lang="en-US" sz="1050" dirty="0"/>
          </a:p>
        </p:txBody>
      </p:sp>
      <p:sp>
        <p:nvSpPr>
          <p:cNvPr id="9" name="Text 7"/>
          <p:cNvSpPr/>
          <p:nvPr/>
        </p:nvSpPr>
        <p:spPr>
          <a:xfrm>
            <a:off x="749808" y="2359152"/>
            <a:ext cx="1298448" cy="292608"/>
          </a:xfrm>
          <a:prstGeom prst="rect">
            <a:avLst/>
          </a:prstGeom>
          <a:solidFill>
            <a:srgbClr val="E8EEFF"/>
          </a:solidFill>
          <a:ln>
            <a:solidFill>
              <a:srgbClr val="E8EEFF"/>
            </a:solidFill>
          </a:ln>
        </p:spPr>
        <p:txBody>
          <a:bodyPr wrap="square" lIns="635" tIns="635" rIns="635" bIns="635" rtlCol="0" anchor="ctr"/>
          <a:lstStyle/>
          <a:p>
            <a:pPr algn="ctr" indent="0" marL="0">
              <a:buNone/>
            </a:pPr>
            <a:r>
              <a:rPr lang="en-US" sz="1050" b="1" dirty="0">
                <a:solidFill>
                  <a:srgbClr val="3C5CCF"/>
                </a:solidFill>
                <a:latin typeface="Noto Sans CJK SC" pitchFamily="34" charset="0"/>
                <a:ea typeface="Noto Sans CJK SC" pitchFamily="34" charset="-122"/>
                <a:cs typeface="Noto Sans CJK SC" pitchFamily="34" charset="-120"/>
              </a:rPr>
              <a:t>图书链接</a:t>
            </a:r>
            <a:endParaRPr lang="en-US" sz="1050" dirty="0"/>
          </a:p>
        </p:txBody>
      </p:sp>
      <p:sp>
        <p:nvSpPr>
          <p:cNvPr id="10" name="Text 8"/>
          <p:cNvSpPr/>
          <p:nvPr/>
        </p:nvSpPr>
        <p:spPr>
          <a:xfrm>
            <a:off x="2322576" y="2359152"/>
            <a:ext cx="1298448" cy="292608"/>
          </a:xfrm>
          <a:prstGeom prst="rect">
            <a:avLst/>
          </a:prstGeom>
          <a:solidFill>
            <a:srgbClr val="E6F8F7"/>
          </a:solidFill>
          <a:ln>
            <a:solidFill>
              <a:srgbClr val="E6F8F7"/>
            </a:solidFill>
          </a:ln>
        </p:spPr>
        <p:txBody>
          <a:bodyPr wrap="square" lIns="635" tIns="635" rIns="635" bIns="635" rtlCol="0" anchor="ctr"/>
          <a:lstStyle/>
          <a:p>
            <a:pPr algn="ctr" indent="0" marL="0">
              <a:buNone/>
            </a:pPr>
            <a:r>
              <a:rPr lang="en-US" sz="1050" b="1" dirty="0">
                <a:solidFill>
                  <a:srgbClr val="0EA5A4"/>
                </a:solidFill>
                <a:latin typeface="Noto Sans CJK SC" pitchFamily="34" charset="0"/>
                <a:ea typeface="Noto Sans CJK SC" pitchFamily="34" charset="-122"/>
                <a:cs typeface="Noto Sans CJK SC" pitchFamily="34" charset="-120"/>
              </a:rPr>
              <a:t>短简介</a:t>
            </a:r>
            <a:endParaRPr lang="en-US" sz="1050" dirty="0"/>
          </a:p>
        </p:txBody>
      </p:sp>
      <p:sp>
        <p:nvSpPr>
          <p:cNvPr id="11" name="Text 9"/>
          <p:cNvSpPr/>
          <p:nvPr/>
        </p:nvSpPr>
        <p:spPr>
          <a:xfrm>
            <a:off x="3895344" y="2359152"/>
            <a:ext cx="1298448" cy="292608"/>
          </a:xfrm>
          <a:prstGeom prst="rect">
            <a:avLst/>
          </a:prstGeom>
          <a:solidFill>
            <a:srgbClr val="F0EAFE"/>
          </a:solidFill>
          <a:ln>
            <a:solidFill>
              <a:srgbClr val="F0EAFE"/>
            </a:solidFill>
          </a:ln>
        </p:spPr>
        <p:txBody>
          <a:bodyPr wrap="square" lIns="635" tIns="635" rIns="635" bIns="635" rtlCol="0" anchor="ctr"/>
          <a:lstStyle/>
          <a:p>
            <a:pPr algn="ctr" indent="0" marL="0">
              <a:buNone/>
            </a:pPr>
            <a:r>
              <a:rPr lang="en-US" sz="1050" b="1" dirty="0">
                <a:solidFill>
                  <a:srgbClr val="7C3AED"/>
                </a:solidFill>
                <a:latin typeface="Noto Sans CJK SC" pitchFamily="34" charset="0"/>
                <a:ea typeface="Noto Sans CJK SC" pitchFamily="34" charset="-122"/>
                <a:cs typeface="Noto Sans CJK SC" pitchFamily="34" charset="-120"/>
              </a:rPr>
              <a:t>长简介</a:t>
            </a:r>
            <a:endParaRPr lang="en-US" sz="1050" dirty="0"/>
          </a:p>
        </p:txBody>
      </p:sp>
      <p:sp>
        <p:nvSpPr>
          <p:cNvPr id="12" name="Text 10"/>
          <p:cNvSpPr/>
          <p:nvPr/>
        </p:nvSpPr>
        <p:spPr>
          <a:xfrm>
            <a:off x="749808" y="2889504"/>
            <a:ext cx="1298448" cy="292608"/>
          </a:xfrm>
          <a:prstGeom prst="rect">
            <a:avLst/>
          </a:prstGeom>
          <a:solidFill>
            <a:srgbClr val="E8EEFF"/>
          </a:solidFill>
          <a:ln>
            <a:solidFill>
              <a:srgbClr val="E8EEFF"/>
            </a:solidFill>
          </a:ln>
        </p:spPr>
        <p:txBody>
          <a:bodyPr wrap="square" lIns="635" tIns="635" rIns="635" bIns="635" rtlCol="0" anchor="ctr"/>
          <a:lstStyle/>
          <a:p>
            <a:pPr algn="ctr" indent="0" marL="0">
              <a:buNone/>
            </a:pPr>
            <a:r>
              <a:rPr lang="en-US" sz="1050" b="1" dirty="0">
                <a:solidFill>
                  <a:srgbClr val="3C5CCF"/>
                </a:solidFill>
                <a:latin typeface="Noto Sans CJK SC" pitchFamily="34" charset="0"/>
                <a:ea typeface="Noto Sans CJK SC" pitchFamily="34" charset="-122"/>
                <a:cs typeface="Noto Sans CJK SC" pitchFamily="34" charset="-120"/>
              </a:rPr>
              <a:t>作者简介</a:t>
            </a:r>
            <a:endParaRPr lang="en-US" sz="1050" dirty="0"/>
          </a:p>
        </p:txBody>
      </p:sp>
      <p:sp>
        <p:nvSpPr>
          <p:cNvPr id="13" name="Text 11"/>
          <p:cNvSpPr/>
          <p:nvPr/>
        </p:nvSpPr>
        <p:spPr>
          <a:xfrm>
            <a:off x="2322576" y="2889504"/>
            <a:ext cx="1298448" cy="292608"/>
          </a:xfrm>
          <a:prstGeom prst="rect">
            <a:avLst/>
          </a:prstGeom>
          <a:solidFill>
            <a:srgbClr val="E6F8F7"/>
          </a:solidFill>
          <a:ln>
            <a:solidFill>
              <a:srgbClr val="E6F8F7"/>
            </a:solidFill>
          </a:ln>
        </p:spPr>
        <p:txBody>
          <a:bodyPr wrap="square" lIns="635" tIns="635" rIns="635" bIns="635" rtlCol="0" anchor="ctr"/>
          <a:lstStyle/>
          <a:p>
            <a:pPr algn="ctr" indent="0" marL="0">
              <a:buNone/>
            </a:pPr>
            <a:r>
              <a:rPr lang="en-US" sz="1050" b="1" dirty="0">
                <a:solidFill>
                  <a:srgbClr val="0EA5A4"/>
                </a:solidFill>
                <a:latin typeface="Noto Sans CJK SC" pitchFamily="34" charset="0"/>
                <a:ea typeface="Noto Sans CJK SC" pitchFamily="34" charset="-122"/>
                <a:cs typeface="Noto Sans CJK SC" pitchFamily="34" charset="-120"/>
              </a:rPr>
              <a:t>相关推荐</a:t>
            </a:r>
            <a:endParaRPr lang="en-US" sz="1050" dirty="0"/>
          </a:p>
        </p:txBody>
      </p:sp>
      <p:sp>
        <p:nvSpPr>
          <p:cNvPr id="14" name="Text 12"/>
          <p:cNvSpPr/>
          <p:nvPr/>
        </p:nvSpPr>
        <p:spPr>
          <a:xfrm>
            <a:off x="3895344" y="2889504"/>
            <a:ext cx="1298448" cy="292608"/>
          </a:xfrm>
          <a:prstGeom prst="rect">
            <a:avLst/>
          </a:prstGeom>
          <a:solidFill>
            <a:srgbClr val="F0EAFE"/>
          </a:solidFill>
          <a:ln>
            <a:solidFill>
              <a:srgbClr val="F0EAFE"/>
            </a:solidFill>
          </a:ln>
        </p:spPr>
        <p:txBody>
          <a:bodyPr wrap="square" lIns="635" tIns="635" rIns="635" bIns="635" rtlCol="0" anchor="ctr"/>
          <a:lstStyle/>
          <a:p>
            <a:pPr algn="ctr" indent="0" marL="0">
              <a:buNone/>
            </a:pPr>
            <a:r>
              <a:rPr lang="en-US" sz="1050" b="1" dirty="0">
                <a:solidFill>
                  <a:srgbClr val="7C3AED"/>
                </a:solidFill>
                <a:latin typeface="Noto Sans CJK SC" pitchFamily="34" charset="0"/>
                <a:ea typeface="Noto Sans CJK SC" pitchFamily="34" charset="-122"/>
                <a:cs typeface="Noto Sans CJK SC" pitchFamily="34" charset="-120"/>
              </a:rPr>
              <a:t>热门短评</a:t>
            </a:r>
            <a:endParaRPr lang="en-US" sz="1050" dirty="0"/>
          </a:p>
        </p:txBody>
      </p:sp>
      <p:sp>
        <p:nvSpPr>
          <p:cNvPr id="15" name="Text 13"/>
          <p:cNvSpPr/>
          <p:nvPr/>
        </p:nvSpPr>
        <p:spPr>
          <a:xfrm>
            <a:off x="6126480" y="1444752"/>
            <a:ext cx="1828800" cy="246888"/>
          </a:xfrm>
          <a:prstGeom prst="rect">
            <a:avLst/>
          </a:prstGeom>
          <a:noFill/>
          <a:ln/>
        </p:spPr>
        <p:txBody>
          <a:bodyPr wrap="square" lIns="0" tIns="0" rIns="0" bIns="0" rtlCol="0" anchor="ctr"/>
          <a:lstStyle/>
          <a:p>
            <a:pPr indent="0" marL="0">
              <a:buNone/>
            </a:pPr>
            <a:r>
              <a:rPr lang="en-US" sz="950" b="1" dirty="0">
                <a:solidFill>
                  <a:srgbClr val="F59E0B"/>
                </a:solidFill>
                <a:latin typeface="Noto Sans CJK SC" pitchFamily="34" charset="0"/>
                <a:ea typeface="Noto Sans CJK SC" pitchFamily="34" charset="-122"/>
                <a:cs typeface="Noto Sans CJK SC" pitchFamily="34" charset="-120"/>
              </a:rPr>
              <a:t>清洗处理</a:t>
            </a:r>
            <a:endParaRPr lang="en-US" sz="950" dirty="0"/>
          </a:p>
        </p:txBody>
      </p:sp>
      <p:sp>
        <p:nvSpPr>
          <p:cNvPr id="16" name="Text 14"/>
          <p:cNvSpPr/>
          <p:nvPr/>
        </p:nvSpPr>
        <p:spPr>
          <a:xfrm>
            <a:off x="6144768" y="1856232"/>
            <a:ext cx="310896" cy="201168"/>
          </a:xfrm>
          <a:prstGeom prst="rect">
            <a:avLst/>
          </a:prstGeom>
          <a:solidFill>
            <a:srgbClr val="F59E0B"/>
          </a:solidFill>
          <a:ln>
            <a:solidFill>
              <a:srgbClr val="F59E0B"/>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01</a:t>
            </a:r>
            <a:endParaRPr lang="en-US" sz="750" dirty="0"/>
          </a:p>
        </p:txBody>
      </p:sp>
      <p:sp>
        <p:nvSpPr>
          <p:cNvPr id="17" name="Text 15"/>
          <p:cNvSpPr/>
          <p:nvPr/>
        </p:nvSpPr>
        <p:spPr>
          <a:xfrm>
            <a:off x="6583680" y="1828800"/>
            <a:ext cx="4590288" cy="320040"/>
          </a:xfrm>
          <a:prstGeom prst="rect">
            <a:avLst/>
          </a:prstGeom>
          <a:noFill/>
          <a:ln/>
        </p:spPr>
        <p:txBody>
          <a:bodyPr wrap="square" lIns="0" tIns="0" rIns="0" bIns="0" rtlCol="0" anchor="ctr">
            <a:normAutofit/>
          </a:bodyPr>
          <a:lstStyle/>
          <a:p>
            <a:pPr indent="0" marL="0">
              <a:buNone/>
            </a:pPr>
            <a:r>
              <a:rPr lang="en-US" sz="1300" dirty="0">
                <a:solidFill>
                  <a:srgbClr val="111827"/>
                </a:solidFill>
                <a:latin typeface="Noto Sans CJK SC" pitchFamily="34" charset="0"/>
                <a:ea typeface="Noto Sans CJK SC" pitchFamily="34" charset="-122"/>
                <a:cs typeface="Noto Sans CJK SC" pitchFamily="34" charset="-120"/>
              </a:rPr>
              <a:t>评分字段转换为数值类型</a:t>
            </a:r>
            <a:endParaRPr lang="en-US" sz="1300" dirty="0"/>
          </a:p>
        </p:txBody>
      </p:sp>
      <p:sp>
        <p:nvSpPr>
          <p:cNvPr id="18" name="Text 16"/>
          <p:cNvSpPr/>
          <p:nvPr/>
        </p:nvSpPr>
        <p:spPr>
          <a:xfrm>
            <a:off x="6144768" y="2386584"/>
            <a:ext cx="310896" cy="201168"/>
          </a:xfrm>
          <a:prstGeom prst="rect">
            <a:avLst/>
          </a:prstGeom>
          <a:solidFill>
            <a:srgbClr val="F59E0B"/>
          </a:solidFill>
          <a:ln>
            <a:solidFill>
              <a:srgbClr val="F59E0B"/>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02</a:t>
            </a:r>
            <a:endParaRPr lang="en-US" sz="750" dirty="0"/>
          </a:p>
        </p:txBody>
      </p:sp>
      <p:sp>
        <p:nvSpPr>
          <p:cNvPr id="19" name="Text 17"/>
          <p:cNvSpPr/>
          <p:nvPr/>
        </p:nvSpPr>
        <p:spPr>
          <a:xfrm>
            <a:off x="6583680" y="2359152"/>
            <a:ext cx="4590288" cy="320040"/>
          </a:xfrm>
          <a:prstGeom prst="rect">
            <a:avLst/>
          </a:prstGeom>
          <a:noFill/>
          <a:ln/>
        </p:spPr>
        <p:txBody>
          <a:bodyPr wrap="square" lIns="0" tIns="0" rIns="0" bIns="0" rtlCol="0" anchor="ctr">
            <a:normAutofit/>
          </a:bodyPr>
          <a:lstStyle/>
          <a:p>
            <a:pPr indent="0" marL="0">
              <a:buNone/>
            </a:pPr>
            <a:r>
              <a:rPr lang="en-US" sz="1300" dirty="0">
                <a:solidFill>
                  <a:srgbClr val="111827"/>
                </a:solidFill>
                <a:latin typeface="Noto Sans CJK SC" pitchFamily="34" charset="0"/>
                <a:ea typeface="Noto Sans CJK SC" pitchFamily="34" charset="-122"/>
                <a:cs typeface="Noto Sans CJK SC" pitchFamily="34" charset="-120"/>
              </a:rPr>
              <a:t>从作者/出版信息中提取出版年份</a:t>
            </a:r>
            <a:endParaRPr lang="en-US" sz="1300" dirty="0"/>
          </a:p>
        </p:txBody>
      </p:sp>
      <p:sp>
        <p:nvSpPr>
          <p:cNvPr id="20" name="Text 18"/>
          <p:cNvSpPr/>
          <p:nvPr/>
        </p:nvSpPr>
        <p:spPr>
          <a:xfrm>
            <a:off x="6144768" y="2916936"/>
            <a:ext cx="310896" cy="201168"/>
          </a:xfrm>
          <a:prstGeom prst="rect">
            <a:avLst/>
          </a:prstGeom>
          <a:solidFill>
            <a:srgbClr val="F59E0B"/>
          </a:solidFill>
          <a:ln>
            <a:solidFill>
              <a:srgbClr val="F59E0B"/>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03</a:t>
            </a:r>
            <a:endParaRPr lang="en-US" sz="750" dirty="0"/>
          </a:p>
        </p:txBody>
      </p:sp>
      <p:sp>
        <p:nvSpPr>
          <p:cNvPr id="21" name="Text 19"/>
          <p:cNvSpPr/>
          <p:nvPr/>
        </p:nvSpPr>
        <p:spPr>
          <a:xfrm>
            <a:off x="6583680" y="2889504"/>
            <a:ext cx="4590288" cy="320040"/>
          </a:xfrm>
          <a:prstGeom prst="rect">
            <a:avLst/>
          </a:prstGeom>
          <a:noFill/>
          <a:ln/>
        </p:spPr>
        <p:txBody>
          <a:bodyPr wrap="square" lIns="0" tIns="0" rIns="0" bIns="0" rtlCol="0" anchor="ctr">
            <a:normAutofit/>
          </a:bodyPr>
          <a:lstStyle/>
          <a:p>
            <a:pPr indent="0" marL="0">
              <a:buNone/>
            </a:pPr>
            <a:r>
              <a:rPr lang="en-US" sz="1300" dirty="0">
                <a:solidFill>
                  <a:srgbClr val="111827"/>
                </a:solidFill>
                <a:latin typeface="Noto Sans CJK SC" pitchFamily="34" charset="0"/>
                <a:ea typeface="Noto Sans CJK SC" pitchFamily="34" charset="-122"/>
                <a:cs typeface="Noto Sans CJK SC" pitchFamily="34" charset="-120"/>
              </a:rPr>
              <a:t>相关推荐与短评整理为列表结构</a:t>
            </a:r>
            <a:endParaRPr lang="en-US" sz="1300" dirty="0"/>
          </a:p>
        </p:txBody>
      </p:sp>
      <p:sp>
        <p:nvSpPr>
          <p:cNvPr id="22" name="Text 20"/>
          <p:cNvSpPr/>
          <p:nvPr/>
        </p:nvSpPr>
        <p:spPr>
          <a:xfrm>
            <a:off x="6144768" y="3447288"/>
            <a:ext cx="310896" cy="201168"/>
          </a:xfrm>
          <a:prstGeom prst="rect">
            <a:avLst/>
          </a:prstGeom>
          <a:solidFill>
            <a:srgbClr val="F59E0B"/>
          </a:solidFill>
          <a:ln>
            <a:solidFill>
              <a:srgbClr val="F59E0B"/>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04</a:t>
            </a:r>
            <a:endParaRPr lang="en-US" sz="750" dirty="0"/>
          </a:p>
        </p:txBody>
      </p:sp>
      <p:sp>
        <p:nvSpPr>
          <p:cNvPr id="23" name="Text 21"/>
          <p:cNvSpPr/>
          <p:nvPr/>
        </p:nvSpPr>
        <p:spPr>
          <a:xfrm>
            <a:off x="6583680" y="3419856"/>
            <a:ext cx="4590288" cy="320040"/>
          </a:xfrm>
          <a:prstGeom prst="rect">
            <a:avLst/>
          </a:prstGeom>
          <a:noFill/>
          <a:ln/>
        </p:spPr>
        <p:txBody>
          <a:bodyPr wrap="square" lIns="0" tIns="0" rIns="0" bIns="0" rtlCol="0" anchor="ctr">
            <a:normAutofit/>
          </a:bodyPr>
          <a:lstStyle/>
          <a:p>
            <a:pPr indent="0" marL="0">
              <a:buNone/>
            </a:pPr>
            <a:r>
              <a:rPr lang="en-US" sz="1300" dirty="0">
                <a:solidFill>
                  <a:srgbClr val="111827"/>
                </a:solidFill>
                <a:latin typeface="Noto Sans CJK SC" pitchFamily="34" charset="0"/>
                <a:ea typeface="Noto Sans CJK SC" pitchFamily="34" charset="-122"/>
                <a:cs typeface="Noto Sans CJK SC" pitchFamily="34" charset="-120"/>
              </a:rPr>
              <a:t>计算热门短评总赞数作为热度指标</a:t>
            </a:r>
            <a:endParaRPr lang="en-US" sz="1300" dirty="0"/>
          </a:p>
        </p:txBody>
      </p:sp>
      <p:sp>
        <p:nvSpPr>
          <p:cNvPr id="24" name="Text 22"/>
          <p:cNvSpPr/>
          <p:nvPr/>
        </p:nvSpPr>
        <p:spPr>
          <a:xfrm>
            <a:off x="6144768" y="3977640"/>
            <a:ext cx="310896" cy="201168"/>
          </a:xfrm>
          <a:prstGeom prst="rect">
            <a:avLst/>
          </a:prstGeom>
          <a:solidFill>
            <a:srgbClr val="F59E0B"/>
          </a:solidFill>
          <a:ln>
            <a:solidFill>
              <a:srgbClr val="F59E0B"/>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05</a:t>
            </a:r>
            <a:endParaRPr lang="en-US" sz="750" dirty="0"/>
          </a:p>
        </p:txBody>
      </p:sp>
      <p:sp>
        <p:nvSpPr>
          <p:cNvPr id="25" name="Text 23"/>
          <p:cNvSpPr/>
          <p:nvPr/>
        </p:nvSpPr>
        <p:spPr>
          <a:xfrm>
            <a:off x="6583680" y="3950208"/>
            <a:ext cx="4590288" cy="320040"/>
          </a:xfrm>
          <a:prstGeom prst="rect">
            <a:avLst/>
          </a:prstGeom>
          <a:noFill/>
          <a:ln/>
        </p:spPr>
        <p:txBody>
          <a:bodyPr wrap="square" lIns="0" tIns="0" rIns="0" bIns="0" rtlCol="0" anchor="ctr">
            <a:normAutofit/>
          </a:bodyPr>
          <a:lstStyle/>
          <a:p>
            <a:pPr indent="0" marL="0">
              <a:buNone/>
            </a:pPr>
            <a:r>
              <a:rPr lang="en-US" sz="1300" dirty="0">
                <a:solidFill>
                  <a:srgbClr val="111827"/>
                </a:solidFill>
                <a:latin typeface="Noto Sans CJK SC" pitchFamily="34" charset="0"/>
                <a:ea typeface="Noto Sans CJK SC" pitchFamily="34" charset="-122"/>
                <a:cs typeface="Noto Sans CJK SC" pitchFamily="34" charset="-120"/>
              </a:rPr>
              <a:t>处理空值、异常值和字段格式差异</a:t>
            </a:r>
            <a:endParaRPr lang="en-US" sz="1300" dirty="0"/>
          </a:p>
        </p:txBody>
      </p:sp>
      <p:sp>
        <p:nvSpPr>
          <p:cNvPr id="26" name="Text 24"/>
          <p:cNvSpPr/>
          <p:nvPr/>
        </p:nvSpPr>
        <p:spPr>
          <a:xfrm>
            <a:off x="1143000" y="4892040"/>
            <a:ext cx="9875520" cy="822960"/>
          </a:xfrm>
          <a:prstGeom prst="rect">
            <a:avLst/>
          </a:prstGeom>
          <a:solidFill>
            <a:srgbClr val="FFFFFF"/>
          </a:solidFill>
          <a:ln w="12700">
            <a:solidFill>
              <a:srgbClr val="E2E8F0"/>
            </a:solidFill>
          </a:ln>
        </p:spPr>
        <p:txBody>
          <a:bodyPr wrap="square" rtlCol="0" anchor="ctr">
            <a:normAutofit/>
          </a:bodyPr>
          <a:lstStyle/>
          <a:p>
            <a:pPr indent="0" marL="0">
              <a:buNone/>
            </a:pPr>
            <a:r>
              <a:rPr lang="en-US" sz="1400" b="1" dirty="0">
                <a:solidFill>
                  <a:srgbClr val="3C5CCF"/>
                </a:solidFill>
                <a:latin typeface="Noto Sans CJK SC" pitchFamily="34" charset="0"/>
                <a:ea typeface="Noto Sans CJK SC" pitchFamily="34" charset="-122"/>
                <a:cs typeface="Noto Sans CJK SC" pitchFamily="34" charset="-120"/>
              </a:rPr>
              <a:t>存储结果
</a:t>
            </a:r>
            <a:endParaRPr lang="en-US" sz="1400" dirty="0"/>
          </a:p>
          <a:p>
            <a:pPr indent="0" marL="0">
              <a:buNone/>
            </a:pPr>
            <a:r>
              <a:rPr lang="en-US" sz="1400" dirty="0">
                <a:solidFill>
                  <a:srgbClr val="64748B"/>
                </a:solidFill>
                <a:latin typeface="Noto Sans CJK SC" pitchFamily="34" charset="0"/>
                <a:ea typeface="Noto Sans CJK SC" pitchFamily="34" charset="-122"/>
                <a:cs typeface="Noto Sans CJK SC" pitchFamily="34" charset="-120"/>
              </a:rPr>
              <a:t>清洗后的数据写入 MySQL 数据库，系统运行时通过数据库读取，不再依赖本地表格文件。</a:t>
            </a:r>
            <a:endParaRPr lang="en-US" sz="1400" dirty="0"/>
          </a:p>
        </p:txBody>
      </p:sp>
      <p:sp>
        <p:nvSpPr>
          <p:cNvPr id="28" name="Text 25"/>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4</a:t>
            </a:r>
            <a:endParaRPr lang="en-US" sz="750" dirty="0"/>
          </a:p>
        </p:txBody>
      </p:sp>
      <p:sp>
        <p:nvSpPr>
          <p:cNvPr id="29" name="Text 26"/>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系统架构设计</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五层结构支撑数据、业务、智能分析与云端部署</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Text 3"/>
          <p:cNvSpPr/>
          <p:nvPr/>
        </p:nvSpPr>
        <p:spPr>
          <a:xfrm>
            <a:off x="914400" y="1417320"/>
            <a:ext cx="10332720" cy="621792"/>
          </a:xfrm>
          <a:prstGeom prst="rect">
            <a:avLst/>
          </a:prstGeom>
          <a:solidFill>
            <a:srgbClr val="E8EEFF"/>
          </a:solidFill>
          <a:ln w="12700">
            <a:solidFill>
              <a:srgbClr val="E8EEFF"/>
            </a:solidFill>
          </a:ln>
        </p:spPr>
        <p:txBody>
          <a:bodyPr wrap="square" rtlCol="0" anchor="ctr">
            <a:normAutofit/>
          </a:bodyPr>
          <a:lstStyle/>
          <a:p>
            <a:pPr indent="0" marL="0">
              <a:buNone/>
            </a:pPr>
            <a:r>
              <a:rPr lang="en-US" sz="1300" b="1" dirty="0">
                <a:solidFill>
                  <a:srgbClr val="3C5CCF"/>
                </a:solidFill>
                <a:latin typeface="Noto Sans CJK SC" pitchFamily="34" charset="0"/>
                <a:ea typeface="Noto Sans CJK SC" pitchFamily="34" charset="-122"/>
                <a:cs typeface="Noto Sans CJK SC" pitchFamily="34" charset="-120"/>
              </a:rPr>
              <a:t>用户层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游客用户 / 登录用户</a:t>
            </a:r>
            <a:endParaRPr lang="en-US" sz="1300" dirty="0"/>
          </a:p>
        </p:txBody>
      </p:sp>
      <p:sp>
        <p:nvSpPr>
          <p:cNvPr id="6" name="Text 4"/>
          <p:cNvSpPr/>
          <p:nvPr/>
        </p:nvSpPr>
        <p:spPr>
          <a:xfrm>
            <a:off x="914400" y="2258568"/>
            <a:ext cx="10332720" cy="621792"/>
          </a:xfrm>
          <a:prstGeom prst="rect">
            <a:avLst/>
          </a:prstGeom>
          <a:solidFill>
            <a:srgbClr val="E6F8F7"/>
          </a:solidFill>
          <a:ln w="12700">
            <a:solidFill>
              <a:srgbClr val="E6F8F7"/>
            </a:solidFill>
          </a:ln>
        </p:spPr>
        <p:txBody>
          <a:bodyPr wrap="square" rtlCol="0" anchor="ctr">
            <a:normAutofit/>
          </a:bodyPr>
          <a:lstStyle/>
          <a:p>
            <a:pPr indent="0" marL="0">
              <a:buNone/>
            </a:pPr>
            <a:r>
              <a:rPr lang="en-US" sz="1300" b="1" dirty="0">
                <a:solidFill>
                  <a:srgbClr val="0EA5A4"/>
                </a:solidFill>
                <a:latin typeface="Noto Sans CJK SC" pitchFamily="34" charset="0"/>
                <a:ea typeface="Noto Sans CJK SC" pitchFamily="34" charset="-122"/>
                <a:cs typeface="Noto Sans CJK SC" pitchFamily="34" charset="-120"/>
              </a:rPr>
              <a:t>表现层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Streamlit 页面、侧边栏、Tab、图表展示</a:t>
            </a:r>
            <a:endParaRPr lang="en-US" sz="1300" dirty="0"/>
          </a:p>
        </p:txBody>
      </p:sp>
      <p:sp>
        <p:nvSpPr>
          <p:cNvPr id="7" name="Text 5"/>
          <p:cNvSpPr/>
          <p:nvPr/>
        </p:nvSpPr>
        <p:spPr>
          <a:xfrm>
            <a:off x="914400" y="3099816"/>
            <a:ext cx="10332720" cy="621792"/>
          </a:xfrm>
          <a:prstGeom prst="rect">
            <a:avLst/>
          </a:prstGeom>
          <a:solidFill>
            <a:srgbClr val="F0EAFE"/>
          </a:solidFill>
          <a:ln w="12700">
            <a:solidFill>
              <a:srgbClr val="F0EAFE"/>
            </a:solidFill>
          </a:ln>
        </p:spPr>
        <p:txBody>
          <a:bodyPr wrap="square" rtlCol="0" anchor="ctr">
            <a:normAutofit/>
          </a:bodyPr>
          <a:lstStyle/>
          <a:p>
            <a:pPr indent="0" marL="0">
              <a:buNone/>
            </a:pPr>
            <a:r>
              <a:rPr lang="en-US" sz="1300" b="1" dirty="0">
                <a:solidFill>
                  <a:srgbClr val="7C3AED"/>
                </a:solidFill>
                <a:latin typeface="Noto Sans CJK SC" pitchFamily="34" charset="0"/>
                <a:ea typeface="Noto Sans CJK SC" pitchFamily="34" charset="-122"/>
                <a:cs typeface="Noto Sans CJK SC" pitchFamily="34" charset="-120"/>
              </a:rPr>
              <a:t>业务层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书籍总览、数据可视化、AI 馆长、个人书库</a:t>
            </a:r>
            <a:endParaRPr lang="en-US" sz="1300" dirty="0"/>
          </a:p>
        </p:txBody>
      </p:sp>
      <p:sp>
        <p:nvSpPr>
          <p:cNvPr id="8" name="Text 6"/>
          <p:cNvSpPr/>
          <p:nvPr/>
        </p:nvSpPr>
        <p:spPr>
          <a:xfrm>
            <a:off x="914400" y="3941064"/>
            <a:ext cx="10332720" cy="621792"/>
          </a:xfrm>
          <a:prstGeom prst="rect">
            <a:avLst/>
          </a:prstGeom>
          <a:solidFill>
            <a:srgbClr val="FFF6E3"/>
          </a:solidFill>
          <a:ln w="12700">
            <a:solidFill>
              <a:srgbClr val="FFF6E3"/>
            </a:solidFill>
          </a:ln>
        </p:spPr>
        <p:txBody>
          <a:bodyPr wrap="square" rtlCol="0" anchor="ctr">
            <a:normAutofit/>
          </a:bodyPr>
          <a:lstStyle/>
          <a:p>
            <a:pPr indent="0" marL="0">
              <a:buNone/>
            </a:pPr>
            <a:r>
              <a:rPr lang="en-US" sz="1300" b="1" dirty="0">
                <a:solidFill>
                  <a:srgbClr val="F59E0B"/>
                </a:solidFill>
                <a:latin typeface="Noto Sans CJK SC" pitchFamily="34" charset="0"/>
                <a:ea typeface="Noto Sans CJK SC" pitchFamily="34" charset="-122"/>
                <a:cs typeface="Noto Sans CJK SC" pitchFamily="34" charset="-120"/>
              </a:rPr>
              <a:t>分析层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数据清洗、统计分析、情感分析、Prompt 构造</a:t>
            </a:r>
            <a:endParaRPr lang="en-US" sz="1300" dirty="0"/>
          </a:p>
        </p:txBody>
      </p:sp>
      <p:sp>
        <p:nvSpPr>
          <p:cNvPr id="9" name="Text 7"/>
          <p:cNvSpPr/>
          <p:nvPr/>
        </p:nvSpPr>
        <p:spPr>
          <a:xfrm>
            <a:off x="914400" y="4782312"/>
            <a:ext cx="10332720" cy="621792"/>
          </a:xfrm>
          <a:prstGeom prst="rect">
            <a:avLst/>
          </a:prstGeom>
          <a:solidFill>
            <a:srgbClr val="EEF2F7"/>
          </a:solidFill>
          <a:ln w="12700">
            <a:solidFill>
              <a:srgbClr val="EEF2F7"/>
            </a:solidFill>
          </a:ln>
        </p:spPr>
        <p:txBody>
          <a:bodyPr wrap="square" rtlCol="0" anchor="ctr">
            <a:normAutofit/>
          </a:bodyPr>
          <a:lstStyle/>
          <a:p>
            <a:pPr indent="0" marL="0">
              <a:buNone/>
            </a:pPr>
            <a:r>
              <a:rPr lang="en-US" sz="1300" b="1" dirty="0">
                <a:solidFill>
                  <a:srgbClr val="0F172A"/>
                </a:solidFill>
                <a:latin typeface="Noto Sans CJK SC" pitchFamily="34" charset="0"/>
                <a:ea typeface="Noto Sans CJK SC" pitchFamily="34" charset="-122"/>
                <a:cs typeface="Noto Sans CJK SC" pitchFamily="34" charset="-120"/>
              </a:rPr>
              <a:t>存储与服务层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Railway MySQL、DeepSeek API、Streamlit Cloud</a:t>
            </a:r>
            <a:endParaRPr lang="en-US" sz="1300" dirty="0"/>
          </a:p>
        </p:txBody>
      </p:sp>
      <p:sp>
        <p:nvSpPr>
          <p:cNvPr id="11" name="Text 8"/>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5</a:t>
            </a:r>
            <a:endParaRPr lang="en-US" sz="750" dirty="0"/>
          </a:p>
        </p:txBody>
      </p:sp>
      <p:sp>
        <p:nvSpPr>
          <p:cNvPr id="12" name="Text 9"/>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核心功能模块</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公共书库、AI 功能和个人书库共同构成平台主体</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Text 3"/>
          <p:cNvSpPr/>
          <p:nvPr/>
        </p:nvSpPr>
        <p:spPr>
          <a:xfrm>
            <a:off x="731520" y="1508760"/>
            <a:ext cx="3246120" cy="1234440"/>
          </a:xfrm>
          <a:prstGeom prst="rect">
            <a:avLst/>
          </a:prstGeom>
          <a:solidFill>
            <a:srgbClr val="FFFFFF"/>
          </a:solidFill>
          <a:ln w="12700">
            <a:solidFill>
              <a:srgbClr val="E2E8F0"/>
            </a:solidFill>
          </a:ln>
        </p:spPr>
        <p:txBody>
          <a:bodyPr wrap="square" rtlCol="0" anchor="ctr">
            <a:normAutofit/>
          </a:bodyPr>
          <a:lstStyle/>
          <a:p>
            <a:pPr indent="0" marL="0">
              <a:buNone/>
            </a:pPr>
            <a:r>
              <a:rPr lang="en-US" sz="1250" b="1" dirty="0">
                <a:solidFill>
                  <a:srgbClr val="3C5CCF"/>
                </a:solidFill>
                <a:latin typeface="Noto Sans CJK SC" pitchFamily="34" charset="0"/>
                <a:ea typeface="Noto Sans CJK SC" pitchFamily="34" charset="-122"/>
                <a:cs typeface="Noto Sans CJK SC" pitchFamily="34" charset="-120"/>
              </a:rPr>
              <a:t>书籍总览
</a:t>
            </a:r>
            <a:endParaRPr lang="en-US" sz="1250" dirty="0"/>
          </a:p>
          <a:p>
            <a:pPr indent="0" marL="0">
              <a:buNone/>
            </a:pPr>
            <a:r>
              <a:rPr lang="en-US" sz="1250" dirty="0">
                <a:solidFill>
                  <a:srgbClr val="64748B"/>
                </a:solidFill>
                <a:latin typeface="Noto Sans CJK SC" pitchFamily="34" charset="0"/>
                <a:ea typeface="Noto Sans CJK SC" pitchFamily="34" charset="-122"/>
                <a:cs typeface="Noto Sans CJK SC" pitchFamily="34" charset="-120"/>
              </a:rPr>
              <a:t>搜索、筛选、分页、图书详情、阅读指南</a:t>
            </a:r>
            <a:endParaRPr lang="en-US" sz="1250" dirty="0"/>
          </a:p>
        </p:txBody>
      </p:sp>
      <p:sp>
        <p:nvSpPr>
          <p:cNvPr id="6" name="Text 4"/>
          <p:cNvSpPr/>
          <p:nvPr/>
        </p:nvSpPr>
        <p:spPr>
          <a:xfrm>
            <a:off x="4480560" y="1508760"/>
            <a:ext cx="3246120" cy="1234440"/>
          </a:xfrm>
          <a:prstGeom prst="rect">
            <a:avLst/>
          </a:prstGeom>
          <a:solidFill>
            <a:srgbClr val="FFFFFF"/>
          </a:solidFill>
          <a:ln w="12700">
            <a:solidFill>
              <a:srgbClr val="E2E8F0"/>
            </a:solidFill>
          </a:ln>
        </p:spPr>
        <p:txBody>
          <a:bodyPr wrap="square" rtlCol="0" anchor="ctr">
            <a:normAutofit/>
          </a:bodyPr>
          <a:lstStyle/>
          <a:p>
            <a:pPr indent="0" marL="0">
              <a:buNone/>
            </a:pPr>
            <a:r>
              <a:rPr lang="en-US" sz="1250" b="1" dirty="0">
                <a:solidFill>
                  <a:srgbClr val="0EA5A4"/>
                </a:solidFill>
                <a:latin typeface="Noto Sans CJK SC" pitchFamily="34" charset="0"/>
                <a:ea typeface="Noto Sans CJK SC" pitchFamily="34" charset="-122"/>
                <a:cs typeface="Noto Sans CJK SC" pitchFamily="34" charset="-120"/>
              </a:rPr>
              <a:t>数据可视化
</a:t>
            </a:r>
            <a:endParaRPr lang="en-US" sz="1250" dirty="0"/>
          </a:p>
          <a:p>
            <a:pPr indent="0" marL="0">
              <a:buNone/>
            </a:pPr>
            <a:r>
              <a:rPr lang="en-US" sz="1250" dirty="0">
                <a:solidFill>
                  <a:srgbClr val="64748B"/>
                </a:solidFill>
                <a:latin typeface="Noto Sans CJK SC" pitchFamily="34" charset="0"/>
                <a:ea typeface="Noto Sans CJK SC" pitchFamily="34" charset="-122"/>
                <a:cs typeface="Noto Sans CJK SC" pitchFamily="34" charset="-120"/>
              </a:rPr>
              <a:t>评分、热度、年份、情感、推荐关系网络</a:t>
            </a:r>
            <a:endParaRPr lang="en-US" sz="1250" dirty="0"/>
          </a:p>
        </p:txBody>
      </p:sp>
      <p:sp>
        <p:nvSpPr>
          <p:cNvPr id="7" name="Text 5"/>
          <p:cNvSpPr/>
          <p:nvPr/>
        </p:nvSpPr>
        <p:spPr>
          <a:xfrm>
            <a:off x="8229600" y="1508760"/>
            <a:ext cx="3246120" cy="1234440"/>
          </a:xfrm>
          <a:prstGeom prst="rect">
            <a:avLst/>
          </a:prstGeom>
          <a:solidFill>
            <a:srgbClr val="FFFFFF"/>
          </a:solidFill>
          <a:ln w="12700">
            <a:solidFill>
              <a:srgbClr val="E2E8F0"/>
            </a:solidFill>
          </a:ln>
        </p:spPr>
        <p:txBody>
          <a:bodyPr wrap="square" rtlCol="0" anchor="ctr">
            <a:normAutofit/>
          </a:bodyPr>
          <a:lstStyle/>
          <a:p>
            <a:pPr indent="0" marL="0">
              <a:buNone/>
            </a:pPr>
            <a:r>
              <a:rPr lang="en-US" sz="1250" b="1" dirty="0">
                <a:solidFill>
                  <a:srgbClr val="7C3AED"/>
                </a:solidFill>
                <a:latin typeface="Noto Sans CJK SC" pitchFamily="34" charset="0"/>
                <a:ea typeface="Noto Sans CJK SC" pitchFamily="34" charset="-122"/>
                <a:cs typeface="Noto Sans CJK SC" pitchFamily="34" charset="-120"/>
              </a:rPr>
              <a:t>AI 智能馆长
</a:t>
            </a:r>
            <a:endParaRPr lang="en-US" sz="1250" dirty="0"/>
          </a:p>
          <a:p>
            <a:pPr indent="0" marL="0">
              <a:buNone/>
            </a:pPr>
            <a:r>
              <a:rPr lang="en-US" sz="1250" dirty="0">
                <a:solidFill>
                  <a:srgbClr val="64748B"/>
                </a:solidFill>
                <a:latin typeface="Noto Sans CJK SC" pitchFamily="34" charset="0"/>
                <a:ea typeface="Noto Sans CJK SC" pitchFamily="34" charset="-122"/>
                <a:cs typeface="Noto Sans CJK SC" pitchFamily="34" charset="-120"/>
              </a:rPr>
              <a:t>自然语言提问、智能荐书、阅读建议</a:t>
            </a:r>
            <a:endParaRPr lang="en-US" sz="1250" dirty="0"/>
          </a:p>
        </p:txBody>
      </p:sp>
      <p:sp>
        <p:nvSpPr>
          <p:cNvPr id="8" name="Text 6"/>
          <p:cNvSpPr/>
          <p:nvPr/>
        </p:nvSpPr>
        <p:spPr>
          <a:xfrm>
            <a:off x="731520" y="3383280"/>
            <a:ext cx="3246120" cy="1234440"/>
          </a:xfrm>
          <a:prstGeom prst="rect">
            <a:avLst/>
          </a:prstGeom>
          <a:solidFill>
            <a:srgbClr val="FFFFFF"/>
          </a:solidFill>
          <a:ln w="12700">
            <a:solidFill>
              <a:srgbClr val="E2E8F0"/>
            </a:solidFill>
          </a:ln>
        </p:spPr>
        <p:txBody>
          <a:bodyPr wrap="square" rtlCol="0" anchor="ctr">
            <a:normAutofit/>
          </a:bodyPr>
          <a:lstStyle/>
          <a:p>
            <a:pPr indent="0" marL="0">
              <a:buNone/>
            </a:pPr>
            <a:r>
              <a:rPr lang="en-US" sz="1250" b="1" dirty="0">
                <a:solidFill>
                  <a:srgbClr val="F59E0B"/>
                </a:solidFill>
                <a:latin typeface="Noto Sans CJK SC" pitchFamily="34" charset="0"/>
                <a:ea typeface="Noto Sans CJK SC" pitchFamily="34" charset="-122"/>
                <a:cs typeface="Noto Sans CJK SC" pitchFamily="34" charset="-120"/>
              </a:rPr>
              <a:t>用户系统
</a:t>
            </a:r>
            <a:endParaRPr lang="en-US" sz="1250" dirty="0"/>
          </a:p>
          <a:p>
            <a:pPr indent="0" marL="0">
              <a:buNone/>
            </a:pPr>
            <a:r>
              <a:rPr lang="en-US" sz="1250" dirty="0">
                <a:solidFill>
                  <a:srgbClr val="64748B"/>
                </a:solidFill>
                <a:latin typeface="Noto Sans CJK SC" pitchFamily="34" charset="0"/>
                <a:ea typeface="Noto Sans CJK SC" pitchFamily="34" charset="-122"/>
                <a:cs typeface="Noto Sans CJK SC" pitchFamily="34" charset="-120"/>
              </a:rPr>
              <a:t>注册、登录、游客模式、登录状态管理</a:t>
            </a:r>
            <a:endParaRPr lang="en-US" sz="1250" dirty="0"/>
          </a:p>
        </p:txBody>
      </p:sp>
      <p:sp>
        <p:nvSpPr>
          <p:cNvPr id="9" name="Text 7"/>
          <p:cNvSpPr/>
          <p:nvPr/>
        </p:nvSpPr>
        <p:spPr>
          <a:xfrm>
            <a:off x="4480560" y="3383280"/>
            <a:ext cx="3246120" cy="1234440"/>
          </a:xfrm>
          <a:prstGeom prst="rect">
            <a:avLst/>
          </a:prstGeom>
          <a:solidFill>
            <a:srgbClr val="FFFFFF"/>
          </a:solidFill>
          <a:ln w="12700">
            <a:solidFill>
              <a:srgbClr val="E2E8F0"/>
            </a:solidFill>
          </a:ln>
        </p:spPr>
        <p:txBody>
          <a:bodyPr wrap="square" rtlCol="0" anchor="ctr">
            <a:normAutofit/>
          </a:bodyPr>
          <a:lstStyle/>
          <a:p>
            <a:pPr indent="0" marL="0">
              <a:buNone/>
            </a:pPr>
            <a:r>
              <a:rPr lang="en-US" sz="1250" b="1" dirty="0">
                <a:solidFill>
                  <a:srgbClr val="EF4444"/>
                </a:solidFill>
                <a:latin typeface="Noto Sans CJK SC" pitchFamily="34" charset="0"/>
                <a:ea typeface="Noto Sans CJK SC" pitchFamily="34" charset="-122"/>
                <a:cs typeface="Noto Sans CJK SC" pitchFamily="34" charset="-120"/>
              </a:rPr>
              <a:t>我的书库
</a:t>
            </a:r>
            <a:endParaRPr lang="en-US" sz="1250" dirty="0"/>
          </a:p>
          <a:p>
            <a:pPr indent="0" marL="0">
              <a:buNone/>
            </a:pPr>
            <a:r>
              <a:rPr lang="en-US" sz="1250" dirty="0">
                <a:solidFill>
                  <a:srgbClr val="64748B"/>
                </a:solidFill>
                <a:latin typeface="Noto Sans CJK SC" pitchFamily="34" charset="0"/>
                <a:ea typeface="Noto Sans CJK SC" pitchFamily="34" charset="-122"/>
                <a:cs typeface="Noto Sans CJK SC" pitchFamily="34" charset="-120"/>
              </a:rPr>
              <a:t>上传、录入、粘贴、修改、删除、导出</a:t>
            </a:r>
            <a:endParaRPr lang="en-US" sz="1250" dirty="0"/>
          </a:p>
        </p:txBody>
      </p:sp>
      <p:sp>
        <p:nvSpPr>
          <p:cNvPr id="10" name="Text 8"/>
          <p:cNvSpPr/>
          <p:nvPr/>
        </p:nvSpPr>
        <p:spPr>
          <a:xfrm>
            <a:off x="8229600" y="3383280"/>
            <a:ext cx="3246120" cy="1234440"/>
          </a:xfrm>
          <a:prstGeom prst="rect">
            <a:avLst/>
          </a:prstGeom>
          <a:solidFill>
            <a:srgbClr val="FFFFFF"/>
          </a:solidFill>
          <a:ln w="12700">
            <a:solidFill>
              <a:srgbClr val="E2E8F0"/>
            </a:solidFill>
          </a:ln>
        </p:spPr>
        <p:txBody>
          <a:bodyPr wrap="square" rtlCol="0" anchor="ctr">
            <a:normAutofit/>
          </a:bodyPr>
          <a:lstStyle/>
          <a:p>
            <a:pPr indent="0" marL="0">
              <a:buNone/>
            </a:pPr>
            <a:r>
              <a:rPr lang="en-US" sz="1250" b="1" dirty="0">
                <a:solidFill>
                  <a:srgbClr val="0F172A"/>
                </a:solidFill>
                <a:latin typeface="Noto Sans CJK SC" pitchFamily="34" charset="0"/>
                <a:ea typeface="Noto Sans CJK SC" pitchFamily="34" charset="-122"/>
                <a:cs typeface="Noto Sans CJK SC" pitchFamily="34" charset="-120"/>
              </a:rPr>
              <a:t>AI 数据分析
</a:t>
            </a:r>
            <a:endParaRPr lang="en-US" sz="1250" dirty="0"/>
          </a:p>
          <a:p>
            <a:pPr indent="0" marL="0">
              <a:buNone/>
            </a:pPr>
            <a:r>
              <a:rPr lang="en-US" sz="1250" dirty="0">
                <a:solidFill>
                  <a:srgbClr val="64748B"/>
                </a:solidFill>
                <a:latin typeface="Noto Sans CJK SC" pitchFamily="34" charset="0"/>
                <a:ea typeface="Noto Sans CJK SC" pitchFamily="34" charset="-122"/>
                <a:cs typeface="Noto Sans CJK SC" pitchFamily="34" charset="-120"/>
              </a:rPr>
              <a:t>公共/个人/混合数据的自然语言分析报告</a:t>
            </a:r>
            <a:endParaRPr lang="en-US" sz="1250" dirty="0"/>
          </a:p>
        </p:txBody>
      </p:sp>
      <p:sp>
        <p:nvSpPr>
          <p:cNvPr id="11" name="Text 9"/>
          <p:cNvSpPr/>
          <p:nvPr/>
        </p:nvSpPr>
        <p:spPr>
          <a:xfrm>
            <a:off x="1234440" y="5394960"/>
            <a:ext cx="9692640" cy="640080"/>
          </a:xfrm>
          <a:prstGeom prst="rect">
            <a:avLst/>
          </a:prstGeom>
          <a:solidFill>
            <a:srgbClr val="F9FAFB"/>
          </a:solidFill>
          <a:ln w="12700">
            <a:solidFill>
              <a:srgbClr val="E2E8F0"/>
            </a:solidFill>
          </a:ln>
        </p:spPr>
        <p:txBody>
          <a:bodyPr wrap="square" rtlCol="0" anchor="ctr">
            <a:normAutofit/>
          </a:bodyPr>
          <a:lstStyle/>
          <a:p>
            <a:pPr indent="0" marL="0">
              <a:buNone/>
            </a:pPr>
            <a:r>
              <a:rPr lang="en-US" sz="1300" b="1" dirty="0">
                <a:solidFill>
                  <a:srgbClr val="3C5CCF"/>
                </a:solidFill>
                <a:latin typeface="Noto Sans CJK SC" pitchFamily="34" charset="0"/>
                <a:ea typeface="Noto Sans CJK SC" pitchFamily="34" charset="-122"/>
                <a:cs typeface="Noto Sans CJK SC" pitchFamily="34" charset="-120"/>
              </a:rPr>
              <a:t>模块关系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公共书库负责稳定展示与分析；个人书库负责用户数据管理；AI 模块基于当前数据源进行推荐、总结与分析。</a:t>
            </a:r>
            <a:endParaRPr lang="en-US" sz="1300" dirty="0"/>
          </a:p>
        </p:txBody>
      </p:sp>
      <p:sp>
        <p:nvSpPr>
          <p:cNvPr id="13" name="Text 10"/>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6</a:t>
            </a:r>
            <a:endParaRPr lang="en-US" sz="750" dirty="0"/>
          </a:p>
        </p:txBody>
      </p:sp>
      <p:sp>
        <p:nvSpPr>
          <p:cNvPr id="14" name="Text 11"/>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数据可视化分析</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从评分、热度、年份、文本情绪和图书关系多个角度分析</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graphicFrame>
        <p:nvGraphicFramePr>
          <p:cNvPr id="5" name="Chart 0" descr=""/>
          <p:cNvGraphicFramePr/>
          <p:nvPr/>
        </p:nvGraphicFramePr>
        <p:xfrm>
          <a:off x="685800" y="1481328"/>
          <a:ext cx="5120640" cy="3154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92240" y="1417320"/>
            <a:ext cx="1828800" cy="246888"/>
          </a:xfrm>
          <a:prstGeom prst="rect">
            <a:avLst/>
          </a:prstGeom>
          <a:noFill/>
          <a:ln/>
        </p:spPr>
        <p:txBody>
          <a:bodyPr wrap="square" lIns="0" tIns="0" rIns="0" bIns="0" rtlCol="0" anchor="ctr"/>
          <a:lstStyle/>
          <a:p>
            <a:pPr indent="0" marL="0">
              <a:buNone/>
            </a:pPr>
            <a:r>
              <a:rPr lang="en-US" sz="950" b="1" dirty="0">
                <a:solidFill>
                  <a:srgbClr val="3C5CCF"/>
                </a:solidFill>
                <a:latin typeface="Noto Sans CJK SC" pitchFamily="34" charset="0"/>
                <a:ea typeface="Noto Sans CJK SC" pitchFamily="34" charset="-122"/>
                <a:cs typeface="Noto Sans CJK SC" pitchFamily="34" charset="-120"/>
              </a:rPr>
              <a:t>主要图表</a:t>
            </a:r>
            <a:endParaRPr lang="en-US" sz="950" dirty="0"/>
          </a:p>
        </p:txBody>
      </p:sp>
      <p:sp>
        <p:nvSpPr>
          <p:cNvPr id="7" name="Text 4"/>
          <p:cNvSpPr/>
          <p:nvPr/>
        </p:nvSpPr>
        <p:spPr>
          <a:xfrm>
            <a:off x="6510528" y="1837944"/>
            <a:ext cx="310896" cy="201168"/>
          </a:xfrm>
          <a:prstGeom prst="rect">
            <a:avLst/>
          </a:prstGeom>
          <a:solidFill>
            <a:srgbClr val="3C5CCF"/>
          </a:solidFill>
          <a:ln>
            <a:solidFill>
              <a:srgbClr val="3C5CCF"/>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01</a:t>
            </a:r>
            <a:endParaRPr lang="en-US" sz="750" dirty="0"/>
          </a:p>
        </p:txBody>
      </p:sp>
      <p:sp>
        <p:nvSpPr>
          <p:cNvPr id="8" name="Text 5"/>
          <p:cNvSpPr/>
          <p:nvPr/>
        </p:nvSpPr>
        <p:spPr>
          <a:xfrm>
            <a:off x="6949440" y="1810512"/>
            <a:ext cx="4498848" cy="320040"/>
          </a:xfrm>
          <a:prstGeom prst="rect">
            <a:avLst/>
          </a:prstGeom>
          <a:noFill/>
          <a:ln/>
        </p:spPr>
        <p:txBody>
          <a:bodyPr wrap="square" lIns="0" tIns="0" rIns="0" bIns="0" rtlCol="0" anchor="ctr">
            <a:normAutofit/>
          </a:bodyPr>
          <a:lstStyle/>
          <a:p>
            <a:pPr indent="0" marL="0">
              <a:buNone/>
            </a:pPr>
            <a:r>
              <a:rPr lang="en-US" sz="1220" dirty="0">
                <a:solidFill>
                  <a:srgbClr val="111827"/>
                </a:solidFill>
                <a:latin typeface="Noto Sans CJK SC" pitchFamily="34" charset="0"/>
                <a:ea typeface="Noto Sans CJK SC" pitchFamily="34" charset="-122"/>
                <a:cs typeface="Noto Sans CJK SC" pitchFamily="34" charset="-120"/>
              </a:rPr>
              <a:t>评分 Top20：展示评分最高的图书</a:t>
            </a:r>
            <a:endParaRPr lang="en-US" sz="1220" dirty="0"/>
          </a:p>
        </p:txBody>
      </p:sp>
      <p:sp>
        <p:nvSpPr>
          <p:cNvPr id="9" name="Text 6"/>
          <p:cNvSpPr/>
          <p:nvPr/>
        </p:nvSpPr>
        <p:spPr>
          <a:xfrm>
            <a:off x="6510528" y="2286000"/>
            <a:ext cx="310896" cy="201168"/>
          </a:xfrm>
          <a:prstGeom prst="rect">
            <a:avLst/>
          </a:prstGeom>
          <a:solidFill>
            <a:srgbClr val="3C5CCF"/>
          </a:solidFill>
          <a:ln>
            <a:solidFill>
              <a:srgbClr val="3C5CCF"/>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02</a:t>
            </a:r>
            <a:endParaRPr lang="en-US" sz="750" dirty="0"/>
          </a:p>
        </p:txBody>
      </p:sp>
      <p:sp>
        <p:nvSpPr>
          <p:cNvPr id="10" name="Text 7"/>
          <p:cNvSpPr/>
          <p:nvPr/>
        </p:nvSpPr>
        <p:spPr>
          <a:xfrm>
            <a:off x="6949440" y="2258568"/>
            <a:ext cx="4498848" cy="320040"/>
          </a:xfrm>
          <a:prstGeom prst="rect">
            <a:avLst/>
          </a:prstGeom>
          <a:noFill/>
          <a:ln/>
        </p:spPr>
        <p:txBody>
          <a:bodyPr wrap="square" lIns="0" tIns="0" rIns="0" bIns="0" rtlCol="0" anchor="ctr">
            <a:normAutofit/>
          </a:bodyPr>
          <a:lstStyle/>
          <a:p>
            <a:pPr indent="0" marL="0">
              <a:buNone/>
            </a:pPr>
            <a:r>
              <a:rPr lang="en-US" sz="1220" dirty="0">
                <a:solidFill>
                  <a:srgbClr val="111827"/>
                </a:solidFill>
                <a:latin typeface="Noto Sans CJK SC" pitchFamily="34" charset="0"/>
                <a:ea typeface="Noto Sans CJK SC" pitchFamily="34" charset="-122"/>
                <a:cs typeface="Noto Sans CJK SC" pitchFamily="34" charset="-120"/>
              </a:rPr>
              <a:t>热度 Top20：用短评总赞衡量讨论度</a:t>
            </a:r>
            <a:endParaRPr lang="en-US" sz="1220" dirty="0"/>
          </a:p>
        </p:txBody>
      </p:sp>
      <p:sp>
        <p:nvSpPr>
          <p:cNvPr id="11" name="Text 8"/>
          <p:cNvSpPr/>
          <p:nvPr/>
        </p:nvSpPr>
        <p:spPr>
          <a:xfrm>
            <a:off x="6510528" y="2734056"/>
            <a:ext cx="310896" cy="201168"/>
          </a:xfrm>
          <a:prstGeom prst="rect">
            <a:avLst/>
          </a:prstGeom>
          <a:solidFill>
            <a:srgbClr val="3C5CCF"/>
          </a:solidFill>
          <a:ln>
            <a:solidFill>
              <a:srgbClr val="3C5CCF"/>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03</a:t>
            </a:r>
            <a:endParaRPr lang="en-US" sz="750" dirty="0"/>
          </a:p>
        </p:txBody>
      </p:sp>
      <p:sp>
        <p:nvSpPr>
          <p:cNvPr id="12" name="Text 9"/>
          <p:cNvSpPr/>
          <p:nvPr/>
        </p:nvSpPr>
        <p:spPr>
          <a:xfrm>
            <a:off x="6949440" y="2706624"/>
            <a:ext cx="4498848" cy="320040"/>
          </a:xfrm>
          <a:prstGeom prst="rect">
            <a:avLst/>
          </a:prstGeom>
          <a:noFill/>
          <a:ln/>
        </p:spPr>
        <p:txBody>
          <a:bodyPr wrap="square" lIns="0" tIns="0" rIns="0" bIns="0" rtlCol="0" anchor="ctr">
            <a:normAutofit/>
          </a:bodyPr>
          <a:lstStyle/>
          <a:p>
            <a:pPr indent="0" marL="0">
              <a:buNone/>
            </a:pPr>
            <a:r>
              <a:rPr lang="en-US" sz="1220" dirty="0">
                <a:solidFill>
                  <a:srgbClr val="111827"/>
                </a:solidFill>
                <a:latin typeface="Noto Sans CJK SC" pitchFamily="34" charset="0"/>
                <a:ea typeface="Noto Sans CJK SC" pitchFamily="34" charset="-122"/>
                <a:cs typeface="Noto Sans CJK SC" pitchFamily="34" charset="-120"/>
              </a:rPr>
              <a:t>评分与热度散点图：观察经典与热度关系</a:t>
            </a:r>
            <a:endParaRPr lang="en-US" sz="1220" dirty="0"/>
          </a:p>
        </p:txBody>
      </p:sp>
      <p:sp>
        <p:nvSpPr>
          <p:cNvPr id="13" name="Text 10"/>
          <p:cNvSpPr/>
          <p:nvPr/>
        </p:nvSpPr>
        <p:spPr>
          <a:xfrm>
            <a:off x="6510528" y="3182112"/>
            <a:ext cx="310896" cy="201168"/>
          </a:xfrm>
          <a:prstGeom prst="rect">
            <a:avLst/>
          </a:prstGeom>
          <a:solidFill>
            <a:srgbClr val="3C5CCF"/>
          </a:solidFill>
          <a:ln>
            <a:solidFill>
              <a:srgbClr val="3C5CCF"/>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04</a:t>
            </a:r>
            <a:endParaRPr lang="en-US" sz="750" dirty="0"/>
          </a:p>
        </p:txBody>
      </p:sp>
      <p:sp>
        <p:nvSpPr>
          <p:cNvPr id="14" name="Text 11"/>
          <p:cNvSpPr/>
          <p:nvPr/>
        </p:nvSpPr>
        <p:spPr>
          <a:xfrm>
            <a:off x="6949440" y="3154680"/>
            <a:ext cx="4498848" cy="320040"/>
          </a:xfrm>
          <a:prstGeom prst="rect">
            <a:avLst/>
          </a:prstGeom>
          <a:noFill/>
          <a:ln/>
        </p:spPr>
        <p:txBody>
          <a:bodyPr wrap="square" lIns="0" tIns="0" rIns="0" bIns="0" rtlCol="0" anchor="ctr">
            <a:normAutofit/>
          </a:bodyPr>
          <a:lstStyle/>
          <a:p>
            <a:pPr indent="0" marL="0">
              <a:buNone/>
            </a:pPr>
            <a:r>
              <a:rPr lang="en-US" sz="1220" dirty="0">
                <a:solidFill>
                  <a:srgbClr val="111827"/>
                </a:solidFill>
                <a:latin typeface="Noto Sans CJK SC" pitchFamily="34" charset="0"/>
                <a:ea typeface="Noto Sans CJK SC" pitchFamily="34" charset="-122"/>
                <a:cs typeface="Noto Sans CJK SC" pitchFamily="34" charset="-120"/>
              </a:rPr>
              <a:t>出版年份趋势：分析不同年代作品表现</a:t>
            </a:r>
            <a:endParaRPr lang="en-US" sz="1220" dirty="0"/>
          </a:p>
        </p:txBody>
      </p:sp>
      <p:sp>
        <p:nvSpPr>
          <p:cNvPr id="15" name="Text 12"/>
          <p:cNvSpPr/>
          <p:nvPr/>
        </p:nvSpPr>
        <p:spPr>
          <a:xfrm>
            <a:off x="6510528" y="3630168"/>
            <a:ext cx="310896" cy="201168"/>
          </a:xfrm>
          <a:prstGeom prst="rect">
            <a:avLst/>
          </a:prstGeom>
          <a:solidFill>
            <a:srgbClr val="3C5CCF"/>
          </a:solidFill>
          <a:ln>
            <a:solidFill>
              <a:srgbClr val="3C5CCF"/>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05</a:t>
            </a:r>
            <a:endParaRPr lang="en-US" sz="750" dirty="0"/>
          </a:p>
        </p:txBody>
      </p:sp>
      <p:sp>
        <p:nvSpPr>
          <p:cNvPr id="16" name="Text 13"/>
          <p:cNvSpPr/>
          <p:nvPr/>
        </p:nvSpPr>
        <p:spPr>
          <a:xfrm>
            <a:off x="6949440" y="3602736"/>
            <a:ext cx="4498848" cy="320040"/>
          </a:xfrm>
          <a:prstGeom prst="rect">
            <a:avLst/>
          </a:prstGeom>
          <a:noFill/>
          <a:ln/>
        </p:spPr>
        <p:txBody>
          <a:bodyPr wrap="square" lIns="0" tIns="0" rIns="0" bIns="0" rtlCol="0" anchor="ctr">
            <a:normAutofit/>
          </a:bodyPr>
          <a:lstStyle/>
          <a:p>
            <a:pPr indent="0" marL="0">
              <a:buNone/>
            </a:pPr>
            <a:r>
              <a:rPr lang="en-US" sz="1220" dirty="0">
                <a:solidFill>
                  <a:srgbClr val="111827"/>
                </a:solidFill>
                <a:latin typeface="Noto Sans CJK SC" pitchFamily="34" charset="0"/>
                <a:ea typeface="Noto Sans CJK SC" pitchFamily="34" charset="-122"/>
                <a:cs typeface="Noto Sans CJK SC" pitchFamily="34" charset="-120"/>
              </a:rPr>
              <a:t>短评情感分析：从评论文本补充评价视角</a:t>
            </a:r>
            <a:endParaRPr lang="en-US" sz="1220" dirty="0"/>
          </a:p>
        </p:txBody>
      </p:sp>
      <p:sp>
        <p:nvSpPr>
          <p:cNvPr id="17" name="Text 14"/>
          <p:cNvSpPr/>
          <p:nvPr/>
        </p:nvSpPr>
        <p:spPr>
          <a:xfrm>
            <a:off x="6510528" y="4078224"/>
            <a:ext cx="310896" cy="201168"/>
          </a:xfrm>
          <a:prstGeom prst="rect">
            <a:avLst/>
          </a:prstGeom>
          <a:solidFill>
            <a:srgbClr val="3C5CCF"/>
          </a:solidFill>
          <a:ln>
            <a:solidFill>
              <a:srgbClr val="3C5CCF"/>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06</a:t>
            </a:r>
            <a:endParaRPr lang="en-US" sz="750" dirty="0"/>
          </a:p>
        </p:txBody>
      </p:sp>
      <p:sp>
        <p:nvSpPr>
          <p:cNvPr id="18" name="Text 15"/>
          <p:cNvSpPr/>
          <p:nvPr/>
        </p:nvSpPr>
        <p:spPr>
          <a:xfrm>
            <a:off x="6949440" y="4050792"/>
            <a:ext cx="4498848" cy="320040"/>
          </a:xfrm>
          <a:prstGeom prst="rect">
            <a:avLst/>
          </a:prstGeom>
          <a:noFill/>
          <a:ln/>
        </p:spPr>
        <p:txBody>
          <a:bodyPr wrap="square" lIns="0" tIns="0" rIns="0" bIns="0" rtlCol="0" anchor="ctr">
            <a:normAutofit/>
          </a:bodyPr>
          <a:lstStyle/>
          <a:p>
            <a:pPr indent="0" marL="0">
              <a:buNone/>
            </a:pPr>
            <a:r>
              <a:rPr lang="en-US" sz="1220" dirty="0">
                <a:solidFill>
                  <a:srgbClr val="111827"/>
                </a:solidFill>
                <a:latin typeface="Noto Sans CJK SC" pitchFamily="34" charset="0"/>
                <a:ea typeface="Noto Sans CJK SC" pitchFamily="34" charset="-122"/>
                <a:cs typeface="Noto Sans CJK SC" pitchFamily="34" charset="-120"/>
              </a:rPr>
              <a:t>推荐关系网络图：展示图书之间的关联结构</a:t>
            </a:r>
            <a:endParaRPr lang="en-US" sz="1220" dirty="0"/>
          </a:p>
        </p:txBody>
      </p:sp>
      <p:sp>
        <p:nvSpPr>
          <p:cNvPr id="20" name="Text 16"/>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7</a:t>
            </a:r>
            <a:endParaRPr lang="en-US" sz="750" dirty="0"/>
          </a:p>
        </p:txBody>
      </p:sp>
      <p:sp>
        <p:nvSpPr>
          <p:cNvPr id="21" name="Text 17"/>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AI 智能功能实现</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DeepSeek API 结合当前书库上下文，生成推荐与分析结果</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Shape 3"/>
          <p:cNvSpPr/>
          <p:nvPr/>
        </p:nvSpPr>
        <p:spPr>
          <a:xfrm>
            <a:off x="2304288" y="2240280"/>
            <a:ext cx="713232" cy="0"/>
          </a:xfrm>
          <a:prstGeom prst="line">
            <a:avLst/>
          </a:prstGeom>
          <a:noFill/>
          <a:ln w="13970">
            <a:solidFill>
              <a:srgbClr val="94A3B8"/>
            </a:solidFill>
            <a:prstDash val="solid"/>
            <a:tailEnd type="triangle"/>
          </a:ln>
        </p:spPr>
      </p:sp>
      <p:sp>
        <p:nvSpPr>
          <p:cNvPr id="6" name="Shape 4"/>
          <p:cNvSpPr/>
          <p:nvPr/>
        </p:nvSpPr>
        <p:spPr>
          <a:xfrm>
            <a:off x="4956048" y="2240280"/>
            <a:ext cx="713232" cy="0"/>
          </a:xfrm>
          <a:prstGeom prst="line">
            <a:avLst/>
          </a:prstGeom>
          <a:noFill/>
          <a:ln w="13970">
            <a:solidFill>
              <a:srgbClr val="94A3B8"/>
            </a:solidFill>
            <a:prstDash val="solid"/>
            <a:tailEnd type="triangle"/>
          </a:ln>
        </p:spPr>
      </p:sp>
      <p:sp>
        <p:nvSpPr>
          <p:cNvPr id="7" name="Shape 5"/>
          <p:cNvSpPr/>
          <p:nvPr/>
        </p:nvSpPr>
        <p:spPr>
          <a:xfrm>
            <a:off x="7607808" y="2240280"/>
            <a:ext cx="713232" cy="0"/>
          </a:xfrm>
          <a:prstGeom prst="line">
            <a:avLst/>
          </a:prstGeom>
          <a:noFill/>
          <a:ln w="13970">
            <a:solidFill>
              <a:srgbClr val="94A3B8"/>
            </a:solidFill>
            <a:prstDash val="solid"/>
            <a:tailEnd type="triangle"/>
          </a:ln>
        </p:spPr>
      </p:sp>
      <p:sp>
        <p:nvSpPr>
          <p:cNvPr id="8" name="Text 6"/>
          <p:cNvSpPr/>
          <p:nvPr/>
        </p:nvSpPr>
        <p:spPr>
          <a:xfrm>
            <a:off x="822960" y="1737360"/>
            <a:ext cx="1508760"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3C5CCF"/>
                </a:solidFill>
                <a:latin typeface="Noto Sans CJK SC" pitchFamily="34" charset="0"/>
                <a:ea typeface="Noto Sans CJK SC" pitchFamily="34" charset="-122"/>
                <a:cs typeface="Noto Sans CJK SC" pitchFamily="34" charset="-120"/>
              </a:rPr>
              <a:t>用户问题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自然语言需求</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或阅读困惑</a:t>
            </a:r>
            <a:endParaRPr lang="en-US" sz="1050" dirty="0"/>
          </a:p>
        </p:txBody>
      </p:sp>
      <p:sp>
        <p:nvSpPr>
          <p:cNvPr id="9" name="Text 7"/>
          <p:cNvSpPr/>
          <p:nvPr/>
        </p:nvSpPr>
        <p:spPr>
          <a:xfrm>
            <a:off x="3063240" y="1737360"/>
            <a:ext cx="1920240"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0EA5A4"/>
                </a:solidFill>
                <a:latin typeface="Noto Sans CJK SC" pitchFamily="34" charset="0"/>
                <a:ea typeface="Noto Sans CJK SC" pitchFamily="34" charset="-122"/>
                <a:cs typeface="Noto Sans CJK SC" pitchFamily="34" charset="-120"/>
              </a:rPr>
              <a:t>数据上下文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当前筛选书库</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书名/评分/简介</a:t>
            </a:r>
            <a:endParaRPr lang="en-US" sz="1050" dirty="0"/>
          </a:p>
        </p:txBody>
      </p:sp>
      <p:sp>
        <p:nvSpPr>
          <p:cNvPr id="10" name="Text 8"/>
          <p:cNvSpPr/>
          <p:nvPr/>
        </p:nvSpPr>
        <p:spPr>
          <a:xfrm>
            <a:off x="5715000" y="1737360"/>
            <a:ext cx="1920240"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7C3AED"/>
                </a:solidFill>
                <a:latin typeface="Noto Sans CJK SC" pitchFamily="34" charset="0"/>
                <a:ea typeface="Noto Sans CJK SC" pitchFamily="34" charset="-122"/>
                <a:cs typeface="Noto Sans CJK SC" pitchFamily="34" charset="-120"/>
              </a:rPr>
              <a:t>DeepSeek API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OpenAI 兼容 SDK</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base_url 接入</a:t>
            </a:r>
            <a:endParaRPr lang="en-US" sz="1050" dirty="0"/>
          </a:p>
        </p:txBody>
      </p:sp>
      <p:sp>
        <p:nvSpPr>
          <p:cNvPr id="11" name="Text 9"/>
          <p:cNvSpPr/>
          <p:nvPr/>
        </p:nvSpPr>
        <p:spPr>
          <a:xfrm>
            <a:off x="8366760" y="1737360"/>
            <a:ext cx="2011680" cy="100584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F59E0B"/>
                </a:solidFill>
                <a:latin typeface="Noto Sans CJK SC" pitchFamily="34" charset="0"/>
                <a:ea typeface="Noto Sans CJK SC" pitchFamily="34" charset="-122"/>
                <a:cs typeface="Noto Sans CJK SC" pitchFamily="34" charset="-120"/>
              </a:rPr>
              <a:t>生成结果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阅读指南</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智能荐书</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分析报告</a:t>
            </a:r>
            <a:endParaRPr lang="en-US" sz="1050" dirty="0"/>
          </a:p>
        </p:txBody>
      </p:sp>
      <p:sp>
        <p:nvSpPr>
          <p:cNvPr id="12" name="Text 10"/>
          <p:cNvSpPr/>
          <p:nvPr/>
        </p:nvSpPr>
        <p:spPr>
          <a:xfrm>
            <a:off x="822960" y="3749040"/>
            <a:ext cx="4846320" cy="1005840"/>
          </a:xfrm>
          <a:prstGeom prst="rect">
            <a:avLst/>
          </a:prstGeom>
          <a:solidFill>
            <a:srgbClr val="FFFFFF"/>
          </a:solidFill>
          <a:ln w="12700">
            <a:solidFill>
              <a:srgbClr val="E2E8F0"/>
            </a:solidFill>
          </a:ln>
        </p:spPr>
        <p:txBody>
          <a:bodyPr wrap="square" rtlCol="0" anchor="ctr">
            <a:normAutofit/>
          </a:bodyPr>
          <a:lstStyle/>
          <a:p>
            <a:pPr indent="0" marL="0">
              <a:buNone/>
            </a:pPr>
            <a:r>
              <a:rPr lang="en-US" sz="1230" b="1" dirty="0">
                <a:solidFill>
                  <a:srgbClr val="3C5CCF"/>
                </a:solidFill>
                <a:latin typeface="Noto Sans CJK SC" pitchFamily="34" charset="0"/>
                <a:ea typeface="Noto Sans CJK SC" pitchFamily="34" charset="-122"/>
                <a:cs typeface="Noto Sans CJK SC" pitchFamily="34" charset="-120"/>
              </a:rPr>
              <a:t>阅读指南
</a:t>
            </a:r>
            <a:endParaRPr lang="en-US" sz="1230" dirty="0"/>
          </a:p>
          <a:p>
            <a:pPr indent="0" marL="0">
              <a:buNone/>
            </a:pPr>
            <a:r>
              <a:rPr lang="en-US" sz="1230" dirty="0">
                <a:solidFill>
                  <a:srgbClr val="64748B"/>
                </a:solidFill>
                <a:latin typeface="Noto Sans CJK SC" pitchFamily="34" charset="0"/>
                <a:ea typeface="Noto Sans CJK SC" pitchFamily="34" charset="-122"/>
                <a:cs typeface="Noto Sans CJK SC" pitchFamily="34" charset="-120"/>
              </a:rPr>
              <a:t>在书籍详情页，基于书名、作者和简介生成内容概括、核心主题、适合人群、阅读难度和推荐指数。</a:t>
            </a:r>
            <a:endParaRPr lang="en-US" sz="1230" dirty="0"/>
          </a:p>
        </p:txBody>
      </p:sp>
      <p:sp>
        <p:nvSpPr>
          <p:cNvPr id="13" name="Text 11"/>
          <p:cNvSpPr/>
          <p:nvPr/>
        </p:nvSpPr>
        <p:spPr>
          <a:xfrm>
            <a:off x="6400800" y="3749040"/>
            <a:ext cx="4846320" cy="1005840"/>
          </a:xfrm>
          <a:prstGeom prst="rect">
            <a:avLst/>
          </a:prstGeom>
          <a:solidFill>
            <a:srgbClr val="FFFFFF"/>
          </a:solidFill>
          <a:ln w="12700">
            <a:solidFill>
              <a:srgbClr val="E2E8F0"/>
            </a:solidFill>
          </a:ln>
        </p:spPr>
        <p:txBody>
          <a:bodyPr wrap="square" rtlCol="0" anchor="ctr">
            <a:normAutofit/>
          </a:bodyPr>
          <a:lstStyle/>
          <a:p>
            <a:pPr indent="0" marL="0">
              <a:buNone/>
            </a:pPr>
            <a:r>
              <a:rPr lang="en-US" sz="1230" b="1" dirty="0">
                <a:solidFill>
                  <a:srgbClr val="7C3AED"/>
                </a:solidFill>
                <a:latin typeface="Noto Sans CJK SC" pitchFamily="34" charset="0"/>
                <a:ea typeface="Noto Sans CJK SC" pitchFamily="34" charset="-122"/>
                <a:cs typeface="Noto Sans CJK SC" pitchFamily="34" charset="-120"/>
              </a:rPr>
              <a:t>AI 智能馆长
</a:t>
            </a:r>
            <a:endParaRPr lang="en-US" sz="1230" dirty="0"/>
          </a:p>
          <a:p>
            <a:pPr indent="0" marL="0">
              <a:buNone/>
            </a:pPr>
            <a:r>
              <a:rPr lang="en-US" sz="1230" dirty="0">
                <a:solidFill>
                  <a:srgbClr val="64748B"/>
                </a:solidFill>
                <a:latin typeface="Noto Sans CJK SC" pitchFamily="34" charset="0"/>
                <a:ea typeface="Noto Sans CJK SC" pitchFamily="34" charset="-122"/>
                <a:cs typeface="Noto Sans CJK SC" pitchFamily="34" charset="-120"/>
              </a:rPr>
              <a:t>用户输入阅读需求后，系统将当前书库整理为上下文，让模型在限定书库范围内给出推荐与理由。</a:t>
            </a:r>
            <a:endParaRPr lang="en-US" sz="1230" dirty="0"/>
          </a:p>
        </p:txBody>
      </p:sp>
      <p:sp>
        <p:nvSpPr>
          <p:cNvPr id="14" name="Text 12"/>
          <p:cNvSpPr/>
          <p:nvPr/>
        </p:nvSpPr>
        <p:spPr>
          <a:xfrm>
            <a:off x="2011680" y="5349240"/>
            <a:ext cx="8138160" cy="566928"/>
          </a:xfrm>
          <a:prstGeom prst="rect">
            <a:avLst/>
          </a:prstGeom>
          <a:solidFill>
            <a:srgbClr val="F9FAFB"/>
          </a:solidFill>
          <a:ln w="12700">
            <a:solidFill>
              <a:srgbClr val="E2E8F0"/>
            </a:solidFill>
          </a:ln>
        </p:spPr>
        <p:txBody>
          <a:bodyPr wrap="square" rtlCol="0" anchor="ctr">
            <a:normAutofit/>
          </a:bodyPr>
          <a:lstStyle/>
          <a:p>
            <a:pPr indent="0" marL="0">
              <a:buNone/>
            </a:pPr>
            <a:r>
              <a:rPr lang="en-US" sz="1300" b="1" dirty="0">
                <a:solidFill>
                  <a:srgbClr val="F59E0B"/>
                </a:solidFill>
                <a:latin typeface="Noto Sans CJK SC" pitchFamily="34" charset="0"/>
                <a:ea typeface="Noto Sans CJK SC" pitchFamily="34" charset="-122"/>
                <a:cs typeface="Noto Sans CJK SC" pitchFamily="34" charset="-120"/>
              </a:rPr>
              <a:t>关键设计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AI 不脱离数据随机回答，而是基于当前系统中的图书数据生成结果。</a:t>
            </a:r>
            <a:endParaRPr lang="en-US" sz="1300" dirty="0"/>
          </a:p>
        </p:txBody>
      </p:sp>
      <p:sp>
        <p:nvSpPr>
          <p:cNvPr id="16" name="Text 13"/>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8</a:t>
            </a:r>
            <a:endParaRPr lang="en-US" sz="750" dirty="0"/>
          </a:p>
        </p:txBody>
      </p:sp>
      <p:sp>
        <p:nvSpPr>
          <p:cNvPr id="17" name="Text 14"/>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用户登录与个人书库</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从公共数据分析扩展到用户个人阅读数据管理</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Text 3"/>
          <p:cNvSpPr/>
          <p:nvPr/>
        </p:nvSpPr>
        <p:spPr>
          <a:xfrm>
            <a:off x="777240" y="1508760"/>
            <a:ext cx="4800600" cy="1051560"/>
          </a:xfrm>
          <a:prstGeom prst="rect">
            <a:avLst/>
          </a:prstGeom>
          <a:solidFill>
            <a:srgbClr val="FFFFFF"/>
          </a:solidFill>
          <a:ln w="12700">
            <a:solidFill>
              <a:srgbClr val="E2E8F0"/>
            </a:solidFill>
          </a:ln>
        </p:spPr>
        <p:txBody>
          <a:bodyPr wrap="square" rtlCol="0" anchor="ctr">
            <a:normAutofit/>
          </a:bodyPr>
          <a:lstStyle/>
          <a:p>
            <a:pPr indent="0" marL="0">
              <a:buNone/>
            </a:pPr>
            <a:r>
              <a:rPr lang="en-US" sz="1280" b="1" dirty="0">
                <a:solidFill>
                  <a:srgbClr val="3C5CCF"/>
                </a:solidFill>
                <a:latin typeface="Noto Sans CJK SC" pitchFamily="34" charset="0"/>
                <a:ea typeface="Noto Sans CJK SC" pitchFamily="34" charset="-122"/>
                <a:cs typeface="Noto Sans CJK SC" pitchFamily="34" charset="-120"/>
              </a:rPr>
              <a:t>游客模式
</a:t>
            </a:r>
            <a:endParaRPr lang="en-US" sz="1280" dirty="0"/>
          </a:p>
          <a:p>
            <a:pPr indent="0" marL="0">
              <a:buNone/>
            </a:pPr>
            <a:r>
              <a:rPr lang="en-US" sz="1280" dirty="0">
                <a:solidFill>
                  <a:srgbClr val="64748B"/>
                </a:solidFill>
                <a:latin typeface="Noto Sans CJK SC" pitchFamily="34" charset="0"/>
                <a:ea typeface="Noto Sans CJK SC" pitchFamily="34" charset="-122"/>
                <a:cs typeface="Noto Sans CJK SC" pitchFamily="34" charset="-120"/>
              </a:rPr>
              <a:t>可浏览公共书库，使用筛选、可视化和 AI 智能馆长等核心功能。</a:t>
            </a:r>
            <a:endParaRPr lang="en-US" sz="1280" dirty="0"/>
          </a:p>
        </p:txBody>
      </p:sp>
      <p:sp>
        <p:nvSpPr>
          <p:cNvPr id="6" name="Text 4"/>
          <p:cNvSpPr/>
          <p:nvPr/>
        </p:nvSpPr>
        <p:spPr>
          <a:xfrm>
            <a:off x="6400800" y="1508760"/>
            <a:ext cx="4800600" cy="1051560"/>
          </a:xfrm>
          <a:prstGeom prst="rect">
            <a:avLst/>
          </a:prstGeom>
          <a:solidFill>
            <a:srgbClr val="FFFFFF"/>
          </a:solidFill>
          <a:ln w="12700">
            <a:solidFill>
              <a:srgbClr val="E2E8F0"/>
            </a:solidFill>
          </a:ln>
        </p:spPr>
        <p:txBody>
          <a:bodyPr wrap="square" rtlCol="0" anchor="ctr">
            <a:normAutofit/>
          </a:bodyPr>
          <a:lstStyle/>
          <a:p>
            <a:pPr indent="0" marL="0">
              <a:buNone/>
            </a:pPr>
            <a:r>
              <a:rPr lang="en-US" sz="1280" b="1" dirty="0">
                <a:solidFill>
                  <a:srgbClr val="0EA5A4"/>
                </a:solidFill>
                <a:latin typeface="Noto Sans CJK SC" pitchFamily="34" charset="0"/>
                <a:ea typeface="Noto Sans CJK SC" pitchFamily="34" charset="-122"/>
                <a:cs typeface="Noto Sans CJK SC" pitchFamily="34" charset="-120"/>
              </a:rPr>
              <a:t>登录用户
</a:t>
            </a:r>
            <a:endParaRPr lang="en-US" sz="1280" dirty="0"/>
          </a:p>
          <a:p>
            <a:pPr indent="0" marL="0">
              <a:buNone/>
            </a:pPr>
            <a:r>
              <a:rPr lang="en-US" sz="1280" dirty="0">
                <a:solidFill>
                  <a:srgbClr val="64748B"/>
                </a:solidFill>
                <a:latin typeface="Noto Sans CJK SC" pitchFamily="34" charset="0"/>
                <a:ea typeface="Noto Sans CJK SC" pitchFamily="34" charset="-122"/>
                <a:cs typeface="Noto Sans CJK SC" pitchFamily="34" charset="-120"/>
              </a:rPr>
              <a:t>可维护个人书库，上传 CSV / Excel，也可以手动录入或批量粘贴图书数据。</a:t>
            </a:r>
            <a:endParaRPr lang="en-US" sz="1280" dirty="0"/>
          </a:p>
        </p:txBody>
      </p:sp>
      <p:sp>
        <p:nvSpPr>
          <p:cNvPr id="7" name="Text 5"/>
          <p:cNvSpPr/>
          <p:nvPr/>
        </p:nvSpPr>
        <p:spPr>
          <a:xfrm>
            <a:off x="960120" y="3090672"/>
            <a:ext cx="1828800" cy="246888"/>
          </a:xfrm>
          <a:prstGeom prst="rect">
            <a:avLst/>
          </a:prstGeom>
          <a:noFill/>
          <a:ln/>
        </p:spPr>
        <p:txBody>
          <a:bodyPr wrap="square" lIns="0" tIns="0" rIns="0" bIns="0" rtlCol="0" anchor="ctr"/>
          <a:lstStyle/>
          <a:p>
            <a:pPr indent="0" marL="0">
              <a:buNone/>
            </a:pPr>
            <a:r>
              <a:rPr lang="en-US" sz="950" b="1" dirty="0">
                <a:solidFill>
                  <a:srgbClr val="7C3AED"/>
                </a:solidFill>
                <a:latin typeface="Noto Sans CJK SC" pitchFamily="34" charset="0"/>
                <a:ea typeface="Noto Sans CJK SC" pitchFamily="34" charset="-122"/>
                <a:cs typeface="Noto Sans CJK SC" pitchFamily="34" charset="-120"/>
              </a:rPr>
              <a:t>个人书库能力</a:t>
            </a:r>
            <a:endParaRPr lang="en-US" sz="950" dirty="0"/>
          </a:p>
        </p:txBody>
      </p:sp>
      <p:sp>
        <p:nvSpPr>
          <p:cNvPr id="8" name="Text 6"/>
          <p:cNvSpPr/>
          <p:nvPr/>
        </p:nvSpPr>
        <p:spPr>
          <a:xfrm>
            <a:off x="960120" y="348386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01</a:t>
            </a:r>
            <a:endParaRPr lang="en-US" sz="750" dirty="0"/>
          </a:p>
        </p:txBody>
      </p:sp>
      <p:sp>
        <p:nvSpPr>
          <p:cNvPr id="9" name="Text 7"/>
          <p:cNvSpPr/>
          <p:nvPr/>
        </p:nvSpPr>
        <p:spPr>
          <a:xfrm>
            <a:off x="1399032" y="3456432"/>
            <a:ext cx="44074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上传 CSV / Excel 文件</a:t>
            </a:r>
            <a:endParaRPr lang="en-US" sz="1280" dirty="0"/>
          </a:p>
        </p:txBody>
      </p:sp>
      <p:sp>
        <p:nvSpPr>
          <p:cNvPr id="10" name="Text 8"/>
          <p:cNvSpPr/>
          <p:nvPr/>
        </p:nvSpPr>
        <p:spPr>
          <a:xfrm>
            <a:off x="960120" y="394106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02</a:t>
            </a:r>
            <a:endParaRPr lang="en-US" sz="750" dirty="0"/>
          </a:p>
        </p:txBody>
      </p:sp>
      <p:sp>
        <p:nvSpPr>
          <p:cNvPr id="11" name="Text 9"/>
          <p:cNvSpPr/>
          <p:nvPr/>
        </p:nvSpPr>
        <p:spPr>
          <a:xfrm>
            <a:off x="1399032" y="3913632"/>
            <a:ext cx="44074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手动录入单本书</a:t>
            </a:r>
            <a:endParaRPr lang="en-US" sz="1280" dirty="0"/>
          </a:p>
        </p:txBody>
      </p:sp>
      <p:sp>
        <p:nvSpPr>
          <p:cNvPr id="12" name="Text 10"/>
          <p:cNvSpPr/>
          <p:nvPr/>
        </p:nvSpPr>
        <p:spPr>
          <a:xfrm>
            <a:off x="960120" y="439826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03</a:t>
            </a:r>
            <a:endParaRPr lang="en-US" sz="750" dirty="0"/>
          </a:p>
        </p:txBody>
      </p:sp>
      <p:sp>
        <p:nvSpPr>
          <p:cNvPr id="13" name="Text 11"/>
          <p:cNvSpPr/>
          <p:nvPr/>
        </p:nvSpPr>
        <p:spPr>
          <a:xfrm>
            <a:off x="1399032" y="4370832"/>
            <a:ext cx="44074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批量粘贴表格文本</a:t>
            </a:r>
            <a:endParaRPr lang="en-US" sz="1280" dirty="0"/>
          </a:p>
        </p:txBody>
      </p:sp>
      <p:sp>
        <p:nvSpPr>
          <p:cNvPr id="14" name="Text 12"/>
          <p:cNvSpPr/>
          <p:nvPr/>
        </p:nvSpPr>
        <p:spPr>
          <a:xfrm>
            <a:off x="960120" y="485546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04</a:t>
            </a:r>
            <a:endParaRPr lang="en-US" sz="750" dirty="0"/>
          </a:p>
        </p:txBody>
      </p:sp>
      <p:sp>
        <p:nvSpPr>
          <p:cNvPr id="15" name="Text 13"/>
          <p:cNvSpPr/>
          <p:nvPr/>
        </p:nvSpPr>
        <p:spPr>
          <a:xfrm>
            <a:off x="1399032" y="4828032"/>
            <a:ext cx="44074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查看、修改、删除和清空数据</a:t>
            </a:r>
            <a:endParaRPr lang="en-US" sz="1280" dirty="0"/>
          </a:p>
        </p:txBody>
      </p:sp>
      <p:sp>
        <p:nvSpPr>
          <p:cNvPr id="16" name="Text 14"/>
          <p:cNvSpPr/>
          <p:nvPr/>
        </p:nvSpPr>
        <p:spPr>
          <a:xfrm>
            <a:off x="960120" y="531266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05</a:t>
            </a:r>
            <a:endParaRPr lang="en-US" sz="750" dirty="0"/>
          </a:p>
        </p:txBody>
      </p:sp>
      <p:sp>
        <p:nvSpPr>
          <p:cNvPr id="17" name="Text 15"/>
          <p:cNvSpPr/>
          <p:nvPr/>
        </p:nvSpPr>
        <p:spPr>
          <a:xfrm>
            <a:off x="1399032" y="5285232"/>
            <a:ext cx="44074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导出个人书库 CSV</a:t>
            </a:r>
            <a:endParaRPr lang="en-US" sz="1280" dirty="0"/>
          </a:p>
        </p:txBody>
      </p:sp>
      <p:sp>
        <p:nvSpPr>
          <p:cNvPr id="18" name="Text 16"/>
          <p:cNvSpPr/>
          <p:nvPr/>
        </p:nvSpPr>
        <p:spPr>
          <a:xfrm>
            <a:off x="960120" y="5769864"/>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06</a:t>
            </a:r>
            <a:endParaRPr lang="en-US" sz="750" dirty="0"/>
          </a:p>
        </p:txBody>
      </p:sp>
      <p:sp>
        <p:nvSpPr>
          <p:cNvPr id="19" name="Text 17"/>
          <p:cNvSpPr/>
          <p:nvPr/>
        </p:nvSpPr>
        <p:spPr>
          <a:xfrm>
            <a:off x="1399032" y="5742432"/>
            <a:ext cx="44074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进行个人书库基础分析</a:t>
            </a:r>
            <a:endParaRPr lang="en-US" sz="1280" dirty="0"/>
          </a:p>
        </p:txBody>
      </p:sp>
      <p:sp>
        <p:nvSpPr>
          <p:cNvPr id="20" name="Text 18"/>
          <p:cNvSpPr/>
          <p:nvPr/>
        </p:nvSpPr>
        <p:spPr>
          <a:xfrm>
            <a:off x="6446520" y="3383280"/>
            <a:ext cx="4526280" cy="1051560"/>
          </a:xfrm>
          <a:prstGeom prst="rect">
            <a:avLst/>
          </a:prstGeom>
          <a:solidFill>
            <a:srgbClr val="FFFFFF"/>
          </a:solidFill>
          <a:ln w="12700">
            <a:solidFill>
              <a:srgbClr val="E2E8F0"/>
            </a:solidFill>
          </a:ln>
        </p:spPr>
        <p:txBody>
          <a:bodyPr wrap="square" rtlCol="0" anchor="ctr">
            <a:normAutofit/>
          </a:bodyPr>
          <a:lstStyle/>
          <a:p>
            <a:pPr indent="0" marL="0">
              <a:buNone/>
            </a:pPr>
            <a:r>
              <a:rPr lang="en-US" sz="1300" b="1" dirty="0">
                <a:solidFill>
                  <a:srgbClr val="F59E0B"/>
                </a:solidFill>
                <a:latin typeface="Noto Sans CJK SC" pitchFamily="34" charset="0"/>
                <a:ea typeface="Noto Sans CJK SC" pitchFamily="34" charset="-122"/>
                <a:cs typeface="Noto Sans CJK SC" pitchFamily="34" charset="-120"/>
              </a:rPr>
              <a:t>设计意义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该模块让系统不只依赖公共榜单，也可以接入用户自己的阅读数据，提高平台扩展性和个性化能力。</a:t>
            </a:r>
            <a:endParaRPr lang="en-US" sz="1300" dirty="0"/>
          </a:p>
        </p:txBody>
      </p:sp>
      <p:sp>
        <p:nvSpPr>
          <p:cNvPr id="22" name="Text 19"/>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9</a:t>
            </a:r>
            <a:endParaRPr lang="en-US" sz="750" dirty="0"/>
          </a:p>
        </p:txBody>
      </p:sp>
      <p:sp>
        <p:nvSpPr>
          <p:cNvPr id="23" name="Text 20"/>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云端部署与技术栈</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GitHub、Streamlit Cloud 与 Railway MySQL 支撑在线访问</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Text 3"/>
          <p:cNvSpPr/>
          <p:nvPr/>
        </p:nvSpPr>
        <p:spPr>
          <a:xfrm>
            <a:off x="822960" y="1417320"/>
            <a:ext cx="1828800" cy="246888"/>
          </a:xfrm>
          <a:prstGeom prst="rect">
            <a:avLst/>
          </a:prstGeom>
          <a:noFill/>
          <a:ln/>
        </p:spPr>
        <p:txBody>
          <a:bodyPr wrap="square" lIns="0" tIns="0" rIns="0" bIns="0" rtlCol="0" anchor="ctr"/>
          <a:lstStyle/>
          <a:p>
            <a:pPr indent="0" marL="0">
              <a:buNone/>
            </a:pPr>
            <a:r>
              <a:rPr lang="en-US" sz="950" b="1" dirty="0">
                <a:solidFill>
                  <a:srgbClr val="3C5CCF"/>
                </a:solidFill>
                <a:latin typeface="Noto Sans CJK SC" pitchFamily="34" charset="0"/>
                <a:ea typeface="Noto Sans CJK SC" pitchFamily="34" charset="-122"/>
                <a:cs typeface="Noto Sans CJK SC" pitchFamily="34" charset="-120"/>
              </a:rPr>
              <a:t>部署结构</a:t>
            </a:r>
            <a:endParaRPr lang="en-US" sz="950" dirty="0"/>
          </a:p>
        </p:txBody>
      </p:sp>
      <p:sp>
        <p:nvSpPr>
          <p:cNvPr id="6" name="Shape 4"/>
          <p:cNvSpPr/>
          <p:nvPr/>
        </p:nvSpPr>
        <p:spPr>
          <a:xfrm>
            <a:off x="2286000" y="2103120"/>
            <a:ext cx="685800" cy="0"/>
          </a:xfrm>
          <a:prstGeom prst="line">
            <a:avLst/>
          </a:prstGeom>
          <a:noFill/>
          <a:ln w="13970">
            <a:solidFill>
              <a:srgbClr val="94A3B8"/>
            </a:solidFill>
            <a:prstDash val="solid"/>
            <a:tailEnd type="triangle"/>
          </a:ln>
        </p:spPr>
      </p:sp>
      <p:sp>
        <p:nvSpPr>
          <p:cNvPr id="7" name="Shape 5"/>
          <p:cNvSpPr/>
          <p:nvPr/>
        </p:nvSpPr>
        <p:spPr>
          <a:xfrm>
            <a:off x="4709160" y="2103120"/>
            <a:ext cx="685800" cy="0"/>
          </a:xfrm>
          <a:prstGeom prst="line">
            <a:avLst/>
          </a:prstGeom>
          <a:noFill/>
          <a:ln w="13970">
            <a:solidFill>
              <a:srgbClr val="94A3B8"/>
            </a:solidFill>
            <a:prstDash val="solid"/>
            <a:tailEnd type="triangle"/>
          </a:ln>
        </p:spPr>
      </p:sp>
      <p:sp>
        <p:nvSpPr>
          <p:cNvPr id="8" name="Text 6"/>
          <p:cNvSpPr/>
          <p:nvPr/>
        </p:nvSpPr>
        <p:spPr>
          <a:xfrm>
            <a:off x="841248" y="1691640"/>
            <a:ext cx="1463040" cy="82296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3C5CCF"/>
                </a:solidFill>
                <a:latin typeface="Noto Sans CJK SC" pitchFamily="34" charset="0"/>
                <a:ea typeface="Noto Sans CJK SC" pitchFamily="34" charset="-122"/>
                <a:cs typeface="Noto Sans CJK SC" pitchFamily="34" charset="-120"/>
              </a:rPr>
              <a:t>GitHub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项目代码版本管理</a:t>
            </a:r>
            <a:endParaRPr lang="en-US" sz="1050" dirty="0"/>
          </a:p>
        </p:txBody>
      </p:sp>
      <p:sp>
        <p:nvSpPr>
          <p:cNvPr id="9" name="Text 7"/>
          <p:cNvSpPr/>
          <p:nvPr/>
        </p:nvSpPr>
        <p:spPr>
          <a:xfrm>
            <a:off x="2999232" y="1691640"/>
            <a:ext cx="1737360" cy="82296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0EA5A4"/>
                </a:solidFill>
                <a:latin typeface="Noto Sans CJK SC" pitchFamily="34" charset="0"/>
                <a:ea typeface="Noto Sans CJK SC" pitchFamily="34" charset="-122"/>
                <a:cs typeface="Noto Sans CJK SC" pitchFamily="34" charset="-120"/>
              </a:rPr>
              <a:t>Streamlit Cloud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在线部署 Web 应用</a:t>
            </a:r>
            <a:endParaRPr lang="en-US" sz="1050" dirty="0"/>
          </a:p>
        </p:txBody>
      </p:sp>
      <p:sp>
        <p:nvSpPr>
          <p:cNvPr id="10" name="Text 8"/>
          <p:cNvSpPr/>
          <p:nvPr/>
        </p:nvSpPr>
        <p:spPr>
          <a:xfrm>
            <a:off x="5422392" y="1691640"/>
            <a:ext cx="1737360" cy="82296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7C3AED"/>
                </a:solidFill>
                <a:latin typeface="Noto Sans CJK SC" pitchFamily="34" charset="0"/>
                <a:ea typeface="Noto Sans CJK SC" pitchFamily="34" charset="-122"/>
                <a:cs typeface="Noto Sans CJK SC" pitchFamily="34" charset="-120"/>
              </a:rPr>
              <a:t>Railway MySQL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远程数据库存储</a:t>
            </a:r>
            <a:endParaRPr lang="en-US" sz="1050" dirty="0"/>
          </a:p>
        </p:txBody>
      </p:sp>
      <p:sp>
        <p:nvSpPr>
          <p:cNvPr id="11" name="Text 9"/>
          <p:cNvSpPr/>
          <p:nvPr/>
        </p:nvSpPr>
        <p:spPr>
          <a:xfrm>
            <a:off x="7863840" y="1691640"/>
            <a:ext cx="1737360" cy="822960"/>
          </a:xfrm>
          <a:prstGeom prst="rect">
            <a:avLst/>
          </a:prstGeom>
          <a:solidFill>
            <a:srgbClr val="FFFFFF"/>
          </a:solidFill>
          <a:ln w="12700">
            <a:solidFill>
              <a:srgbClr val="DDE3F0"/>
            </a:solidFill>
          </a:ln>
        </p:spPr>
        <p:txBody>
          <a:bodyPr wrap="square" rtlCol="0" anchor="ctr">
            <a:normAutofit/>
          </a:bodyPr>
          <a:lstStyle/>
          <a:p>
            <a:pPr indent="0" marL="0">
              <a:buNone/>
            </a:pPr>
            <a:r>
              <a:rPr lang="en-US" sz="1050" b="1" dirty="0">
                <a:solidFill>
                  <a:srgbClr val="F59E0B"/>
                </a:solidFill>
                <a:latin typeface="Noto Sans CJK SC" pitchFamily="34" charset="0"/>
                <a:ea typeface="Noto Sans CJK SC" pitchFamily="34" charset="-122"/>
                <a:cs typeface="Noto Sans CJK SC" pitchFamily="34" charset="-120"/>
              </a:rPr>
              <a:t>DeepSeek API
</a:t>
            </a:r>
            <a:endParaRPr lang="en-US" sz="1050" dirty="0"/>
          </a:p>
          <a:p>
            <a:pPr indent="0" marL="0">
              <a:buNone/>
            </a:pPr>
            <a:r>
              <a:rPr lang="en-US" sz="1050" dirty="0">
                <a:solidFill>
                  <a:srgbClr val="64748B"/>
                </a:solidFill>
                <a:latin typeface="Noto Sans CJK SC" pitchFamily="34" charset="0"/>
                <a:ea typeface="Noto Sans CJK SC" pitchFamily="34" charset="-122"/>
                <a:cs typeface="Noto Sans CJK SC" pitchFamily="34" charset="-120"/>
              </a:rPr>
              <a:t>智能分析与问答</a:t>
            </a:r>
            <a:endParaRPr lang="en-US" sz="1050" dirty="0"/>
          </a:p>
        </p:txBody>
      </p:sp>
      <p:sp>
        <p:nvSpPr>
          <p:cNvPr id="12" name="Text 10"/>
          <p:cNvSpPr/>
          <p:nvPr/>
        </p:nvSpPr>
        <p:spPr>
          <a:xfrm>
            <a:off x="868680" y="3657600"/>
            <a:ext cx="3017520" cy="566928"/>
          </a:xfrm>
          <a:prstGeom prst="rect">
            <a:avLst/>
          </a:prstGeom>
          <a:solidFill>
            <a:srgbClr val="FFFFFF"/>
          </a:solidFill>
          <a:ln w="12700">
            <a:solidFill>
              <a:srgbClr val="E2E8F0"/>
            </a:solidFill>
          </a:ln>
        </p:spPr>
        <p:txBody>
          <a:bodyPr wrap="square" rtlCol="0" anchor="ctr">
            <a:normAutofit/>
          </a:bodyPr>
          <a:lstStyle/>
          <a:p>
            <a:pPr indent="0" marL="0">
              <a:buNone/>
            </a:pPr>
            <a:r>
              <a:rPr lang="en-US" sz="1160" b="1" dirty="0">
                <a:solidFill>
                  <a:srgbClr val="3C5CCF"/>
                </a:solidFill>
                <a:latin typeface="Noto Sans CJK SC" pitchFamily="34" charset="0"/>
                <a:ea typeface="Noto Sans CJK SC" pitchFamily="34" charset="-122"/>
                <a:cs typeface="Noto Sans CJK SC" pitchFamily="34" charset="-120"/>
              </a:rPr>
              <a:t>前端展示
</a:t>
            </a:r>
            <a:endParaRPr lang="en-US" sz="1160" dirty="0"/>
          </a:p>
          <a:p>
            <a:pPr indent="0" marL="0">
              <a:buNone/>
            </a:pPr>
            <a:r>
              <a:rPr lang="en-US" sz="1160" dirty="0">
                <a:solidFill>
                  <a:srgbClr val="64748B"/>
                </a:solidFill>
                <a:latin typeface="Noto Sans CJK SC" pitchFamily="34" charset="0"/>
                <a:ea typeface="Noto Sans CJK SC" pitchFamily="34" charset="-122"/>
                <a:cs typeface="Noto Sans CJK SC" pitchFamily="34" charset="-120"/>
              </a:rPr>
              <a:t>Streamlit</a:t>
            </a:r>
            <a:endParaRPr lang="en-US" sz="1160" dirty="0"/>
          </a:p>
        </p:txBody>
      </p:sp>
      <p:sp>
        <p:nvSpPr>
          <p:cNvPr id="13" name="Text 11"/>
          <p:cNvSpPr/>
          <p:nvPr/>
        </p:nvSpPr>
        <p:spPr>
          <a:xfrm>
            <a:off x="4526280" y="3657600"/>
            <a:ext cx="3017520" cy="566928"/>
          </a:xfrm>
          <a:prstGeom prst="rect">
            <a:avLst/>
          </a:prstGeom>
          <a:solidFill>
            <a:srgbClr val="FFFFFF"/>
          </a:solidFill>
          <a:ln w="12700">
            <a:solidFill>
              <a:srgbClr val="E2E8F0"/>
            </a:solidFill>
          </a:ln>
        </p:spPr>
        <p:txBody>
          <a:bodyPr wrap="square" rtlCol="0" anchor="ctr">
            <a:normAutofit/>
          </a:bodyPr>
          <a:lstStyle/>
          <a:p>
            <a:pPr indent="0" marL="0">
              <a:buNone/>
            </a:pPr>
            <a:r>
              <a:rPr lang="en-US" sz="1160" b="1" dirty="0">
                <a:solidFill>
                  <a:srgbClr val="0EA5A4"/>
                </a:solidFill>
                <a:latin typeface="Noto Sans CJK SC" pitchFamily="34" charset="0"/>
                <a:ea typeface="Noto Sans CJK SC" pitchFamily="34" charset="-122"/>
                <a:cs typeface="Noto Sans CJK SC" pitchFamily="34" charset="-120"/>
              </a:rPr>
              <a:t>数据处理
</a:t>
            </a:r>
            <a:endParaRPr lang="en-US" sz="1160" dirty="0"/>
          </a:p>
          <a:p>
            <a:pPr indent="0" marL="0">
              <a:buNone/>
            </a:pPr>
            <a:r>
              <a:rPr lang="en-US" sz="1160" dirty="0">
                <a:solidFill>
                  <a:srgbClr val="64748B"/>
                </a:solidFill>
                <a:latin typeface="Noto Sans CJK SC" pitchFamily="34" charset="0"/>
                <a:ea typeface="Noto Sans CJK SC" pitchFamily="34" charset="-122"/>
                <a:cs typeface="Noto Sans CJK SC" pitchFamily="34" charset="-120"/>
              </a:rPr>
              <a:t>pandas</a:t>
            </a:r>
            <a:endParaRPr lang="en-US" sz="1160" dirty="0"/>
          </a:p>
        </p:txBody>
      </p:sp>
      <p:sp>
        <p:nvSpPr>
          <p:cNvPr id="14" name="Text 12"/>
          <p:cNvSpPr/>
          <p:nvPr/>
        </p:nvSpPr>
        <p:spPr>
          <a:xfrm>
            <a:off x="8183880" y="3657600"/>
            <a:ext cx="3017520" cy="566928"/>
          </a:xfrm>
          <a:prstGeom prst="rect">
            <a:avLst/>
          </a:prstGeom>
          <a:solidFill>
            <a:srgbClr val="FFFFFF"/>
          </a:solidFill>
          <a:ln w="12700">
            <a:solidFill>
              <a:srgbClr val="E2E8F0"/>
            </a:solidFill>
          </a:ln>
        </p:spPr>
        <p:txBody>
          <a:bodyPr wrap="square" rtlCol="0" anchor="ctr">
            <a:normAutofit/>
          </a:bodyPr>
          <a:lstStyle/>
          <a:p>
            <a:pPr indent="0" marL="0">
              <a:buNone/>
            </a:pPr>
            <a:r>
              <a:rPr lang="en-US" sz="1160" b="1" dirty="0">
                <a:solidFill>
                  <a:srgbClr val="7C3AED"/>
                </a:solidFill>
                <a:latin typeface="Noto Sans CJK SC" pitchFamily="34" charset="0"/>
                <a:ea typeface="Noto Sans CJK SC" pitchFamily="34" charset="-122"/>
                <a:cs typeface="Noto Sans CJK SC" pitchFamily="34" charset="-120"/>
              </a:rPr>
              <a:t>图表可视化
</a:t>
            </a:r>
            <a:endParaRPr lang="en-US" sz="1160" dirty="0"/>
          </a:p>
          <a:p>
            <a:pPr indent="0" marL="0">
              <a:buNone/>
            </a:pPr>
            <a:r>
              <a:rPr lang="en-US" sz="1160" dirty="0">
                <a:solidFill>
                  <a:srgbClr val="64748B"/>
                </a:solidFill>
                <a:latin typeface="Noto Sans CJK SC" pitchFamily="34" charset="0"/>
                <a:ea typeface="Noto Sans CJK SC" pitchFamily="34" charset="-122"/>
                <a:cs typeface="Noto Sans CJK SC" pitchFamily="34" charset="-120"/>
              </a:rPr>
              <a:t>Plotly</a:t>
            </a:r>
            <a:endParaRPr lang="en-US" sz="1160" dirty="0"/>
          </a:p>
        </p:txBody>
      </p:sp>
      <p:sp>
        <p:nvSpPr>
          <p:cNvPr id="15" name="Text 13"/>
          <p:cNvSpPr/>
          <p:nvPr/>
        </p:nvSpPr>
        <p:spPr>
          <a:xfrm>
            <a:off x="868680" y="4480560"/>
            <a:ext cx="3017520" cy="566928"/>
          </a:xfrm>
          <a:prstGeom prst="rect">
            <a:avLst/>
          </a:prstGeom>
          <a:solidFill>
            <a:srgbClr val="FFFFFF"/>
          </a:solidFill>
          <a:ln w="12700">
            <a:solidFill>
              <a:srgbClr val="E2E8F0"/>
            </a:solidFill>
          </a:ln>
        </p:spPr>
        <p:txBody>
          <a:bodyPr wrap="square" rtlCol="0" anchor="ctr">
            <a:normAutofit/>
          </a:bodyPr>
          <a:lstStyle/>
          <a:p>
            <a:pPr indent="0" marL="0">
              <a:buNone/>
            </a:pPr>
            <a:r>
              <a:rPr lang="en-US" sz="1160" b="1" dirty="0">
                <a:solidFill>
                  <a:srgbClr val="3C5CCF"/>
                </a:solidFill>
                <a:latin typeface="Noto Sans CJK SC" pitchFamily="34" charset="0"/>
                <a:ea typeface="Noto Sans CJK SC" pitchFamily="34" charset="-122"/>
                <a:cs typeface="Noto Sans CJK SC" pitchFamily="34" charset="-120"/>
              </a:rPr>
              <a:t>网络图
</a:t>
            </a:r>
            <a:endParaRPr lang="en-US" sz="1160" dirty="0"/>
          </a:p>
          <a:p>
            <a:pPr indent="0" marL="0">
              <a:buNone/>
            </a:pPr>
            <a:r>
              <a:rPr lang="en-US" sz="1160" dirty="0">
                <a:solidFill>
                  <a:srgbClr val="64748B"/>
                </a:solidFill>
                <a:latin typeface="Noto Sans CJK SC" pitchFamily="34" charset="0"/>
                <a:ea typeface="Noto Sans CJK SC" pitchFamily="34" charset="-122"/>
                <a:cs typeface="Noto Sans CJK SC" pitchFamily="34" charset="-120"/>
              </a:rPr>
              <a:t>NetworkX / PyVis</a:t>
            </a:r>
            <a:endParaRPr lang="en-US" sz="1160" dirty="0"/>
          </a:p>
        </p:txBody>
      </p:sp>
      <p:sp>
        <p:nvSpPr>
          <p:cNvPr id="16" name="Text 14"/>
          <p:cNvSpPr/>
          <p:nvPr/>
        </p:nvSpPr>
        <p:spPr>
          <a:xfrm>
            <a:off x="4526280" y="4480560"/>
            <a:ext cx="3017520" cy="566928"/>
          </a:xfrm>
          <a:prstGeom prst="rect">
            <a:avLst/>
          </a:prstGeom>
          <a:solidFill>
            <a:srgbClr val="FFFFFF"/>
          </a:solidFill>
          <a:ln w="12700">
            <a:solidFill>
              <a:srgbClr val="E2E8F0"/>
            </a:solidFill>
          </a:ln>
        </p:spPr>
        <p:txBody>
          <a:bodyPr wrap="square" rtlCol="0" anchor="ctr">
            <a:normAutofit/>
          </a:bodyPr>
          <a:lstStyle/>
          <a:p>
            <a:pPr indent="0" marL="0">
              <a:buNone/>
            </a:pPr>
            <a:r>
              <a:rPr lang="en-US" sz="1160" b="1" dirty="0">
                <a:solidFill>
                  <a:srgbClr val="0EA5A4"/>
                </a:solidFill>
                <a:latin typeface="Noto Sans CJK SC" pitchFamily="34" charset="0"/>
                <a:ea typeface="Noto Sans CJK SC" pitchFamily="34" charset="-122"/>
                <a:cs typeface="Noto Sans CJK SC" pitchFamily="34" charset="-120"/>
              </a:rPr>
              <a:t>数据库
</a:t>
            </a:r>
            <a:endParaRPr lang="en-US" sz="1160" dirty="0"/>
          </a:p>
          <a:p>
            <a:pPr indent="0" marL="0">
              <a:buNone/>
            </a:pPr>
            <a:r>
              <a:rPr lang="en-US" sz="1160" dirty="0">
                <a:solidFill>
                  <a:srgbClr val="64748B"/>
                </a:solidFill>
                <a:latin typeface="Noto Sans CJK SC" pitchFamily="34" charset="0"/>
                <a:ea typeface="Noto Sans CJK SC" pitchFamily="34" charset="-122"/>
                <a:cs typeface="Noto Sans CJK SC" pitchFamily="34" charset="-120"/>
              </a:rPr>
              <a:t>MySQL / Railway</a:t>
            </a:r>
            <a:endParaRPr lang="en-US" sz="1160" dirty="0"/>
          </a:p>
        </p:txBody>
      </p:sp>
      <p:sp>
        <p:nvSpPr>
          <p:cNvPr id="17" name="Text 15"/>
          <p:cNvSpPr/>
          <p:nvPr/>
        </p:nvSpPr>
        <p:spPr>
          <a:xfrm>
            <a:off x="8183880" y="4480560"/>
            <a:ext cx="3017520" cy="566928"/>
          </a:xfrm>
          <a:prstGeom prst="rect">
            <a:avLst/>
          </a:prstGeom>
          <a:solidFill>
            <a:srgbClr val="FFFFFF"/>
          </a:solidFill>
          <a:ln w="12700">
            <a:solidFill>
              <a:srgbClr val="E2E8F0"/>
            </a:solidFill>
          </a:ln>
        </p:spPr>
        <p:txBody>
          <a:bodyPr wrap="square" rtlCol="0" anchor="ctr">
            <a:normAutofit/>
          </a:bodyPr>
          <a:lstStyle/>
          <a:p>
            <a:pPr indent="0" marL="0">
              <a:buNone/>
            </a:pPr>
            <a:r>
              <a:rPr lang="en-US" sz="1160" b="1" dirty="0">
                <a:solidFill>
                  <a:srgbClr val="7C3AED"/>
                </a:solidFill>
                <a:latin typeface="Noto Sans CJK SC" pitchFamily="34" charset="0"/>
                <a:ea typeface="Noto Sans CJK SC" pitchFamily="34" charset="-122"/>
                <a:cs typeface="Noto Sans CJK SC" pitchFamily="34" charset="-120"/>
              </a:rPr>
              <a:t>AI 接口
</a:t>
            </a:r>
            <a:endParaRPr lang="en-US" sz="1160" dirty="0"/>
          </a:p>
          <a:p>
            <a:pPr indent="0" marL="0">
              <a:buNone/>
            </a:pPr>
            <a:r>
              <a:rPr lang="en-US" sz="1160" dirty="0">
                <a:solidFill>
                  <a:srgbClr val="64748B"/>
                </a:solidFill>
                <a:latin typeface="Noto Sans CJK SC" pitchFamily="34" charset="0"/>
                <a:ea typeface="Noto Sans CJK SC" pitchFamily="34" charset="-122"/>
                <a:cs typeface="Noto Sans CJK SC" pitchFamily="34" charset="-120"/>
              </a:rPr>
              <a:t>DeepSeek API</a:t>
            </a:r>
            <a:endParaRPr lang="en-US" sz="1160" dirty="0"/>
          </a:p>
        </p:txBody>
      </p:sp>
      <p:sp>
        <p:nvSpPr>
          <p:cNvPr id="19" name="Text 16"/>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10</a:t>
            </a:r>
            <a:endParaRPr lang="en-US" sz="750" dirty="0"/>
          </a:p>
        </p:txBody>
      </p:sp>
      <p:sp>
        <p:nvSpPr>
          <p:cNvPr id="20" name="Text 17"/>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反思与后续优化方向</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以扩展数据规模、提升模型效果和优化交互体验为后续重点</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Text 3"/>
          <p:cNvSpPr/>
          <p:nvPr/>
        </p:nvSpPr>
        <p:spPr>
          <a:xfrm>
            <a:off x="685800" y="1417320"/>
            <a:ext cx="4892040" cy="950976"/>
          </a:xfrm>
          <a:prstGeom prst="rect">
            <a:avLst/>
          </a:prstGeom>
          <a:solidFill>
            <a:srgbClr val="FFFFFF"/>
          </a:solidFill>
          <a:ln w="12700">
            <a:solidFill>
              <a:srgbClr val="E2E8F0"/>
            </a:solidFill>
          </a:ln>
        </p:spPr>
        <p:txBody>
          <a:bodyPr wrap="square" rtlCol="0" anchor="ctr">
            <a:normAutofit/>
          </a:bodyPr>
          <a:lstStyle/>
          <a:p>
            <a:pPr indent="0" marL="0">
              <a:buNone/>
            </a:pPr>
            <a:r>
              <a:rPr lang="en-US" sz="1120" b="1" dirty="0">
                <a:solidFill>
                  <a:srgbClr val="3C5CCF"/>
                </a:solidFill>
                <a:latin typeface="Noto Sans CJK SC" pitchFamily="34" charset="0"/>
                <a:ea typeface="Noto Sans CJK SC" pitchFamily="34" charset="-122"/>
                <a:cs typeface="Noto Sans CJK SC" pitchFamily="34" charset="-120"/>
              </a:rPr>
              <a:t>数据来源局限
</a:t>
            </a:r>
            <a:endParaRPr lang="en-US" sz="1120" dirty="0"/>
          </a:p>
          <a:p>
            <a:pPr indent="0" marL="0">
              <a:buNone/>
            </a:pPr>
            <a:r>
              <a:rPr lang="en-US" sz="1120" dirty="0">
                <a:solidFill>
                  <a:srgbClr val="64748B"/>
                </a:solidFill>
                <a:latin typeface="Noto Sans CJK SC" pitchFamily="34" charset="0"/>
                <a:ea typeface="Noto Sans CJK SC" pitchFamily="34" charset="-122"/>
                <a:cs typeface="Noto Sans CJK SC" pitchFamily="34" charset="-120"/>
              </a:rPr>
              <a:t>主要基于豆瓣读书 Top250，样本更偏向高评分、高热度图书，后续可扩展更多分类和平台。</a:t>
            </a:r>
            <a:endParaRPr lang="en-US" sz="1120" dirty="0"/>
          </a:p>
        </p:txBody>
      </p:sp>
      <p:sp>
        <p:nvSpPr>
          <p:cNvPr id="6" name="Text 4"/>
          <p:cNvSpPr/>
          <p:nvPr/>
        </p:nvSpPr>
        <p:spPr>
          <a:xfrm>
            <a:off x="6263640" y="1417320"/>
            <a:ext cx="4892040" cy="950976"/>
          </a:xfrm>
          <a:prstGeom prst="rect">
            <a:avLst/>
          </a:prstGeom>
          <a:solidFill>
            <a:srgbClr val="FFFFFF"/>
          </a:solidFill>
          <a:ln w="12700">
            <a:solidFill>
              <a:srgbClr val="E2E8F0"/>
            </a:solidFill>
          </a:ln>
        </p:spPr>
        <p:txBody>
          <a:bodyPr wrap="square" rtlCol="0" anchor="ctr">
            <a:normAutofit/>
          </a:bodyPr>
          <a:lstStyle/>
          <a:p>
            <a:pPr indent="0" marL="0">
              <a:buNone/>
            </a:pPr>
            <a:r>
              <a:rPr lang="en-US" sz="1120" b="1" dirty="0">
                <a:solidFill>
                  <a:srgbClr val="0EA5A4"/>
                </a:solidFill>
                <a:latin typeface="Noto Sans CJK SC" pitchFamily="34" charset="0"/>
                <a:ea typeface="Noto Sans CJK SC" pitchFamily="34" charset="-122"/>
                <a:cs typeface="Noto Sans CJK SC" pitchFamily="34" charset="-120"/>
              </a:rPr>
              <a:t>情感分析准确率
</a:t>
            </a:r>
            <a:endParaRPr lang="en-US" sz="1120" dirty="0"/>
          </a:p>
          <a:p>
            <a:pPr indent="0" marL="0">
              <a:buNone/>
            </a:pPr>
            <a:r>
              <a:rPr lang="en-US" sz="1120" dirty="0">
                <a:solidFill>
                  <a:srgbClr val="64748B"/>
                </a:solidFill>
                <a:latin typeface="Noto Sans CJK SC" pitchFamily="34" charset="0"/>
                <a:ea typeface="Noto Sans CJK SC" pitchFamily="34" charset="-122"/>
                <a:cs typeface="Noto Sans CJK SC" pitchFamily="34" charset="-120"/>
              </a:rPr>
              <a:t>SnowNLP 可以实现初步判断，但对讽刺、隐喻和复杂语义仍有限，后续可使用更专业的中文模型。</a:t>
            </a:r>
            <a:endParaRPr lang="en-US" sz="1120" dirty="0"/>
          </a:p>
        </p:txBody>
      </p:sp>
      <p:sp>
        <p:nvSpPr>
          <p:cNvPr id="7" name="Text 5"/>
          <p:cNvSpPr/>
          <p:nvPr/>
        </p:nvSpPr>
        <p:spPr>
          <a:xfrm>
            <a:off x="685800" y="2834640"/>
            <a:ext cx="4892040" cy="950976"/>
          </a:xfrm>
          <a:prstGeom prst="rect">
            <a:avLst/>
          </a:prstGeom>
          <a:solidFill>
            <a:srgbClr val="FFFFFF"/>
          </a:solidFill>
          <a:ln w="12700">
            <a:solidFill>
              <a:srgbClr val="E2E8F0"/>
            </a:solidFill>
          </a:ln>
        </p:spPr>
        <p:txBody>
          <a:bodyPr wrap="square" rtlCol="0" anchor="ctr">
            <a:normAutofit/>
          </a:bodyPr>
          <a:lstStyle/>
          <a:p>
            <a:pPr indent="0" marL="0">
              <a:buNone/>
            </a:pPr>
            <a:r>
              <a:rPr lang="en-US" sz="1120" b="1" dirty="0">
                <a:solidFill>
                  <a:srgbClr val="7C3AED"/>
                </a:solidFill>
                <a:latin typeface="Noto Sans CJK SC" pitchFamily="34" charset="0"/>
                <a:ea typeface="Noto Sans CJK SC" pitchFamily="34" charset="-122"/>
                <a:cs typeface="Noto Sans CJK SC" pitchFamily="34" charset="-120"/>
              </a:rPr>
              <a:t>AI 推荐个性化
</a:t>
            </a:r>
            <a:endParaRPr lang="en-US" sz="1120" dirty="0"/>
          </a:p>
          <a:p>
            <a:pPr indent="0" marL="0">
              <a:buNone/>
            </a:pPr>
            <a:r>
              <a:rPr lang="en-US" sz="1120" dirty="0">
                <a:solidFill>
                  <a:srgbClr val="64748B"/>
                </a:solidFill>
                <a:latin typeface="Noto Sans CJK SC" pitchFamily="34" charset="0"/>
                <a:ea typeface="Noto Sans CJK SC" pitchFamily="34" charset="-122"/>
                <a:cs typeface="Noto Sans CJK SC" pitchFamily="34" charset="-120"/>
              </a:rPr>
              <a:t>当前主要依赖书库上下文与 Prompt，后续可结合用户历史行为、收藏和评分偏好。</a:t>
            </a:r>
            <a:endParaRPr lang="en-US" sz="1120" dirty="0"/>
          </a:p>
        </p:txBody>
      </p:sp>
      <p:sp>
        <p:nvSpPr>
          <p:cNvPr id="8" name="Text 6"/>
          <p:cNvSpPr/>
          <p:nvPr/>
        </p:nvSpPr>
        <p:spPr>
          <a:xfrm>
            <a:off x="6263640" y="2834640"/>
            <a:ext cx="4892040" cy="950976"/>
          </a:xfrm>
          <a:prstGeom prst="rect">
            <a:avLst/>
          </a:prstGeom>
          <a:solidFill>
            <a:srgbClr val="FFFFFF"/>
          </a:solidFill>
          <a:ln w="12700">
            <a:solidFill>
              <a:srgbClr val="E2E8F0"/>
            </a:solidFill>
          </a:ln>
        </p:spPr>
        <p:txBody>
          <a:bodyPr wrap="square" rtlCol="0" anchor="ctr">
            <a:normAutofit/>
          </a:bodyPr>
          <a:lstStyle/>
          <a:p>
            <a:pPr indent="0" marL="0">
              <a:buNone/>
            </a:pPr>
            <a:r>
              <a:rPr lang="en-US" sz="1120" b="1" dirty="0">
                <a:solidFill>
                  <a:srgbClr val="F59E0B"/>
                </a:solidFill>
                <a:latin typeface="Noto Sans CJK SC" pitchFamily="34" charset="0"/>
                <a:ea typeface="Noto Sans CJK SC" pitchFamily="34" charset="-122"/>
                <a:cs typeface="Noto Sans CJK SC" pitchFamily="34" charset="-120"/>
              </a:rPr>
              <a:t>系统性能优化
</a:t>
            </a:r>
            <a:endParaRPr lang="en-US" sz="1120" dirty="0"/>
          </a:p>
          <a:p>
            <a:pPr indent="0" marL="0">
              <a:buNone/>
            </a:pPr>
            <a:r>
              <a:rPr lang="en-US" sz="1120" dirty="0">
                <a:solidFill>
                  <a:srgbClr val="64748B"/>
                </a:solidFill>
                <a:latin typeface="Noto Sans CJK SC" pitchFamily="34" charset="0"/>
                <a:ea typeface="Noto Sans CJK SC" pitchFamily="34" charset="-122"/>
                <a:cs typeface="Noto Sans CJK SC" pitchFamily="34" charset="-120"/>
              </a:rPr>
              <a:t>数据量扩大后，网络图、AI 分析和查询速度可能下降，可加入缓存、分页加载与异步处理。</a:t>
            </a:r>
            <a:endParaRPr lang="en-US" sz="1120" dirty="0"/>
          </a:p>
        </p:txBody>
      </p:sp>
      <p:sp>
        <p:nvSpPr>
          <p:cNvPr id="9" name="Text 7"/>
          <p:cNvSpPr/>
          <p:nvPr/>
        </p:nvSpPr>
        <p:spPr>
          <a:xfrm>
            <a:off x="685800" y="4251960"/>
            <a:ext cx="4892040" cy="950976"/>
          </a:xfrm>
          <a:prstGeom prst="rect">
            <a:avLst/>
          </a:prstGeom>
          <a:solidFill>
            <a:srgbClr val="FFFFFF"/>
          </a:solidFill>
          <a:ln w="12700">
            <a:solidFill>
              <a:srgbClr val="E2E8F0"/>
            </a:solidFill>
          </a:ln>
        </p:spPr>
        <p:txBody>
          <a:bodyPr wrap="square" rtlCol="0" anchor="ctr">
            <a:normAutofit/>
          </a:bodyPr>
          <a:lstStyle/>
          <a:p>
            <a:pPr indent="0" marL="0">
              <a:buNone/>
            </a:pPr>
            <a:r>
              <a:rPr lang="en-US" sz="1120" b="1" dirty="0">
                <a:solidFill>
                  <a:srgbClr val="EF4444"/>
                </a:solidFill>
                <a:latin typeface="Noto Sans CJK SC" pitchFamily="34" charset="0"/>
                <a:ea typeface="Noto Sans CJK SC" pitchFamily="34" charset="-122"/>
                <a:cs typeface="Noto Sans CJK SC" pitchFamily="34" charset="-120"/>
              </a:rPr>
              <a:t>个人书库扩展
</a:t>
            </a:r>
            <a:endParaRPr lang="en-US" sz="1120" dirty="0"/>
          </a:p>
          <a:p>
            <a:pPr indent="0" marL="0">
              <a:buNone/>
            </a:pPr>
            <a:r>
              <a:rPr lang="en-US" sz="1120" dirty="0">
                <a:solidFill>
                  <a:srgbClr val="64748B"/>
                </a:solidFill>
                <a:latin typeface="Noto Sans CJK SC" pitchFamily="34" charset="0"/>
                <a:ea typeface="Noto Sans CJK SC" pitchFamily="34" charset="-122"/>
                <a:cs typeface="Noto Sans CJK SC" pitchFamily="34" charset="-120"/>
              </a:rPr>
              <a:t>后续可增加阅读状态、收藏夹、阅读进度、标签体系和更细的个人统计。</a:t>
            </a:r>
            <a:endParaRPr lang="en-US" sz="1120" dirty="0"/>
          </a:p>
        </p:txBody>
      </p:sp>
      <p:sp>
        <p:nvSpPr>
          <p:cNvPr id="11" name="Text 8"/>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11</a:t>
            </a:r>
            <a:endParaRPr lang="en-US" sz="750" dirty="0"/>
          </a:p>
        </p:txBody>
      </p:sp>
      <p:sp>
        <p:nvSpPr>
          <p:cNvPr id="12" name="Text 9"/>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02920" y="384048"/>
            <a:ext cx="8046720" cy="457200"/>
          </a:xfrm>
          <a:prstGeom prst="rect">
            <a:avLst/>
          </a:prstGeom>
          <a:noFill/>
          <a:ln/>
        </p:spPr>
        <p:txBody>
          <a:bodyPr wrap="square" lIns="0" tIns="0" rIns="0" bIns="0" rtlCol="0" anchor="ctr"/>
          <a:lstStyle/>
          <a:p>
            <a:pPr indent="0" marL="0">
              <a:buNone/>
            </a:pPr>
            <a:r>
              <a:rPr lang="en-US" sz="2400" b="1" dirty="0">
                <a:solidFill>
                  <a:srgbClr val="111827"/>
                </a:solidFill>
                <a:latin typeface="Noto Sans CJK SC" pitchFamily="34" charset="0"/>
                <a:ea typeface="Noto Sans CJK SC" pitchFamily="34" charset="-122"/>
                <a:cs typeface="Noto Sans CJK SC" pitchFamily="34" charset="-120"/>
              </a:rPr>
              <a:t>项目总结与展示路径</a:t>
            </a:r>
            <a:endParaRPr lang="en-US" sz="2400" dirty="0"/>
          </a:p>
        </p:txBody>
      </p:sp>
      <p:sp>
        <p:nvSpPr>
          <p:cNvPr id="3" name="Text 1"/>
          <p:cNvSpPr/>
          <p:nvPr/>
        </p:nvSpPr>
        <p:spPr>
          <a:xfrm>
            <a:off x="530352" y="877824"/>
            <a:ext cx="9144000" cy="256032"/>
          </a:xfrm>
          <a:prstGeom prst="rect">
            <a:avLst/>
          </a:prstGeom>
          <a:noFill/>
          <a:ln/>
        </p:spPr>
        <p:txBody>
          <a:bodyPr wrap="square" lIns="0" tIns="0" rIns="0" bIns="0" rtlCol="0" anchor="ctr"/>
          <a:lstStyle/>
          <a:p>
            <a:pPr indent="0" marL="0">
              <a:buNone/>
            </a:pPr>
            <a:r>
              <a:rPr lang="en-US" sz="1050" dirty="0">
                <a:solidFill>
                  <a:srgbClr val="64748B"/>
                </a:solidFill>
                <a:latin typeface="Noto Sans CJK SC" pitchFamily="34" charset="0"/>
                <a:ea typeface="Noto Sans CJK SC" pitchFamily="34" charset="-122"/>
                <a:cs typeface="Noto Sans CJK SC" pitchFamily="34" charset="-120"/>
              </a:rPr>
              <a:t>从普通榜单到可交互、可分析、可扩展的智能分析平台</a:t>
            </a:r>
            <a:endParaRPr lang="en-US" sz="1050" dirty="0"/>
          </a:p>
        </p:txBody>
      </p:sp>
      <p:sp>
        <p:nvSpPr>
          <p:cNvPr id="4" name="Shape 2"/>
          <p:cNvSpPr/>
          <p:nvPr/>
        </p:nvSpPr>
        <p:spPr>
          <a:xfrm>
            <a:off x="502920" y="1170432"/>
            <a:ext cx="11155680" cy="0"/>
          </a:xfrm>
          <a:prstGeom prst="line">
            <a:avLst/>
          </a:prstGeom>
          <a:noFill/>
          <a:ln w="12700">
            <a:solidFill>
              <a:srgbClr val="CBD5E1"/>
            </a:solidFill>
            <a:prstDash val="solid"/>
          </a:ln>
        </p:spPr>
      </p:sp>
      <p:sp>
        <p:nvSpPr>
          <p:cNvPr id="5" name="Text 3"/>
          <p:cNvSpPr/>
          <p:nvPr/>
        </p:nvSpPr>
        <p:spPr>
          <a:xfrm>
            <a:off x="868680" y="1508760"/>
            <a:ext cx="5212080" cy="914400"/>
          </a:xfrm>
          <a:prstGeom prst="rect">
            <a:avLst/>
          </a:prstGeom>
          <a:solidFill>
            <a:srgbClr val="FFFFFF"/>
          </a:solidFill>
          <a:ln w="12700">
            <a:solidFill>
              <a:srgbClr val="E2E8F0"/>
            </a:solidFill>
          </a:ln>
        </p:spPr>
        <p:txBody>
          <a:bodyPr wrap="square" rtlCol="0" anchor="ctr">
            <a:normAutofit/>
          </a:bodyPr>
          <a:lstStyle/>
          <a:p>
            <a:pPr indent="0" marL="0">
              <a:buNone/>
            </a:pPr>
            <a:r>
              <a:rPr lang="en-US" sz="1300" b="1" dirty="0">
                <a:solidFill>
                  <a:srgbClr val="3C5CCF"/>
                </a:solidFill>
                <a:latin typeface="Noto Sans CJK SC" pitchFamily="34" charset="0"/>
                <a:ea typeface="Noto Sans CJK SC" pitchFamily="34" charset="-122"/>
                <a:cs typeface="Noto Sans CJK SC" pitchFamily="34" charset="-120"/>
              </a:rPr>
              <a:t>项目完成度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实现了从数据采集、清洗、存储、可视化到 AI 智能分析和云端部署的完整流程。</a:t>
            </a:r>
            <a:endParaRPr lang="en-US" sz="1300" dirty="0"/>
          </a:p>
        </p:txBody>
      </p:sp>
      <p:sp>
        <p:nvSpPr>
          <p:cNvPr id="6" name="Text 4"/>
          <p:cNvSpPr/>
          <p:nvPr/>
        </p:nvSpPr>
        <p:spPr>
          <a:xfrm>
            <a:off x="6309360" y="1508760"/>
            <a:ext cx="4937760" cy="914400"/>
          </a:xfrm>
          <a:prstGeom prst="rect">
            <a:avLst/>
          </a:prstGeom>
          <a:solidFill>
            <a:srgbClr val="FFFFFF"/>
          </a:solidFill>
          <a:ln w="12700">
            <a:solidFill>
              <a:srgbClr val="E2E8F0"/>
            </a:solidFill>
          </a:ln>
        </p:spPr>
        <p:txBody>
          <a:bodyPr wrap="square" rtlCol="0" anchor="ctr">
            <a:normAutofit/>
          </a:bodyPr>
          <a:lstStyle/>
          <a:p>
            <a:pPr indent="0" marL="0">
              <a:buNone/>
            </a:pPr>
            <a:r>
              <a:rPr lang="en-US" sz="1300" b="1" dirty="0">
                <a:solidFill>
                  <a:srgbClr val="0EA5A4"/>
                </a:solidFill>
                <a:latin typeface="Noto Sans CJK SC" pitchFamily="34" charset="0"/>
                <a:ea typeface="Noto Sans CJK SC" pitchFamily="34" charset="-122"/>
                <a:cs typeface="Noto Sans CJK SC" pitchFamily="34" charset="-120"/>
              </a:rPr>
              <a:t>核心价值
</a:t>
            </a:r>
            <a:endParaRPr lang="en-US" sz="1300" dirty="0"/>
          </a:p>
          <a:p>
            <a:pPr indent="0" marL="0">
              <a:buNone/>
            </a:pPr>
            <a:r>
              <a:rPr lang="en-US" sz="1300" dirty="0">
                <a:solidFill>
                  <a:srgbClr val="64748B"/>
                </a:solidFill>
                <a:latin typeface="Noto Sans CJK SC" pitchFamily="34" charset="0"/>
                <a:ea typeface="Noto Sans CJK SC" pitchFamily="34" charset="-122"/>
                <a:cs typeface="Noto Sans CJK SC" pitchFamily="34" charset="-120"/>
              </a:rPr>
              <a:t>将豆瓣读书 Top250 从静态榜单转化为可以筛选、分析、交互和智能推荐的图书数据平台。</a:t>
            </a:r>
            <a:endParaRPr lang="en-US" sz="1300" dirty="0"/>
          </a:p>
        </p:txBody>
      </p:sp>
      <p:sp>
        <p:nvSpPr>
          <p:cNvPr id="7" name="Text 5"/>
          <p:cNvSpPr/>
          <p:nvPr/>
        </p:nvSpPr>
        <p:spPr>
          <a:xfrm>
            <a:off x="914400" y="2971800"/>
            <a:ext cx="1828800" cy="246888"/>
          </a:xfrm>
          <a:prstGeom prst="rect">
            <a:avLst/>
          </a:prstGeom>
          <a:noFill/>
          <a:ln/>
        </p:spPr>
        <p:txBody>
          <a:bodyPr wrap="square" lIns="0" tIns="0" rIns="0" bIns="0" rtlCol="0" anchor="ctr"/>
          <a:lstStyle/>
          <a:p>
            <a:pPr indent="0" marL="0">
              <a:buNone/>
            </a:pPr>
            <a:r>
              <a:rPr lang="en-US" sz="950" b="1" dirty="0">
                <a:solidFill>
                  <a:srgbClr val="7C3AED"/>
                </a:solidFill>
                <a:latin typeface="Noto Sans CJK SC" pitchFamily="34" charset="0"/>
                <a:ea typeface="Noto Sans CJK SC" pitchFamily="34" charset="-122"/>
                <a:cs typeface="Noto Sans CJK SC" pitchFamily="34" charset="-120"/>
              </a:rPr>
              <a:t>现场展示建议</a:t>
            </a:r>
            <a:endParaRPr lang="en-US" sz="950" dirty="0"/>
          </a:p>
        </p:txBody>
      </p:sp>
      <p:sp>
        <p:nvSpPr>
          <p:cNvPr id="8" name="Text 6"/>
          <p:cNvSpPr/>
          <p:nvPr/>
        </p:nvSpPr>
        <p:spPr>
          <a:xfrm>
            <a:off x="932688" y="3364992"/>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01</a:t>
            </a:r>
            <a:endParaRPr lang="en-US" sz="750" dirty="0"/>
          </a:p>
        </p:txBody>
      </p:sp>
      <p:sp>
        <p:nvSpPr>
          <p:cNvPr id="9" name="Text 7"/>
          <p:cNvSpPr/>
          <p:nvPr/>
        </p:nvSpPr>
        <p:spPr>
          <a:xfrm>
            <a:off x="1371600" y="3337560"/>
            <a:ext cx="94366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打开首页，说明数据来源与平台目标</a:t>
            </a:r>
            <a:endParaRPr lang="en-US" sz="1280" dirty="0"/>
          </a:p>
        </p:txBody>
      </p:sp>
      <p:sp>
        <p:nvSpPr>
          <p:cNvPr id="10" name="Text 8"/>
          <p:cNvSpPr/>
          <p:nvPr/>
        </p:nvSpPr>
        <p:spPr>
          <a:xfrm>
            <a:off x="932688" y="3776472"/>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02</a:t>
            </a:r>
            <a:endParaRPr lang="en-US" sz="750" dirty="0"/>
          </a:p>
        </p:txBody>
      </p:sp>
      <p:sp>
        <p:nvSpPr>
          <p:cNvPr id="11" name="Text 9"/>
          <p:cNvSpPr/>
          <p:nvPr/>
        </p:nvSpPr>
        <p:spPr>
          <a:xfrm>
            <a:off x="1371600" y="3749040"/>
            <a:ext cx="94366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进入书籍总览，展示筛选、搜索和详情页</a:t>
            </a:r>
            <a:endParaRPr lang="en-US" sz="1280" dirty="0"/>
          </a:p>
        </p:txBody>
      </p:sp>
      <p:sp>
        <p:nvSpPr>
          <p:cNvPr id="12" name="Text 10"/>
          <p:cNvSpPr/>
          <p:nvPr/>
        </p:nvSpPr>
        <p:spPr>
          <a:xfrm>
            <a:off x="932688" y="4187952"/>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03</a:t>
            </a:r>
            <a:endParaRPr lang="en-US" sz="750" dirty="0"/>
          </a:p>
        </p:txBody>
      </p:sp>
      <p:sp>
        <p:nvSpPr>
          <p:cNvPr id="13" name="Text 11"/>
          <p:cNvSpPr/>
          <p:nvPr/>
        </p:nvSpPr>
        <p:spPr>
          <a:xfrm>
            <a:off x="1371600" y="4160520"/>
            <a:ext cx="94366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进入数据可视化，展示评分、热度、年份和网络图</a:t>
            </a:r>
            <a:endParaRPr lang="en-US" sz="1280" dirty="0"/>
          </a:p>
        </p:txBody>
      </p:sp>
      <p:sp>
        <p:nvSpPr>
          <p:cNvPr id="14" name="Text 12"/>
          <p:cNvSpPr/>
          <p:nvPr/>
        </p:nvSpPr>
        <p:spPr>
          <a:xfrm>
            <a:off x="932688" y="4599432"/>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04</a:t>
            </a:r>
            <a:endParaRPr lang="en-US" sz="750" dirty="0"/>
          </a:p>
        </p:txBody>
      </p:sp>
      <p:sp>
        <p:nvSpPr>
          <p:cNvPr id="15" name="Text 13"/>
          <p:cNvSpPr/>
          <p:nvPr/>
        </p:nvSpPr>
        <p:spPr>
          <a:xfrm>
            <a:off x="1371600" y="4572000"/>
            <a:ext cx="94366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进入 AI 智能馆长，演示自然语言荐书</a:t>
            </a:r>
            <a:endParaRPr lang="en-US" sz="1280" dirty="0"/>
          </a:p>
        </p:txBody>
      </p:sp>
      <p:sp>
        <p:nvSpPr>
          <p:cNvPr id="16" name="Text 14"/>
          <p:cNvSpPr/>
          <p:nvPr/>
        </p:nvSpPr>
        <p:spPr>
          <a:xfrm>
            <a:off x="932688" y="5010912"/>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05</a:t>
            </a:r>
            <a:endParaRPr lang="en-US" sz="750" dirty="0"/>
          </a:p>
        </p:txBody>
      </p:sp>
      <p:sp>
        <p:nvSpPr>
          <p:cNvPr id="17" name="Text 15"/>
          <p:cNvSpPr/>
          <p:nvPr/>
        </p:nvSpPr>
        <p:spPr>
          <a:xfrm>
            <a:off x="1371600" y="4983480"/>
            <a:ext cx="94366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进入我的书库，说明上传与个人数据管理</a:t>
            </a:r>
            <a:endParaRPr lang="en-US" sz="1280" dirty="0"/>
          </a:p>
        </p:txBody>
      </p:sp>
      <p:sp>
        <p:nvSpPr>
          <p:cNvPr id="18" name="Text 16"/>
          <p:cNvSpPr/>
          <p:nvPr/>
        </p:nvSpPr>
        <p:spPr>
          <a:xfrm>
            <a:off x="932688" y="5422392"/>
            <a:ext cx="310896" cy="201168"/>
          </a:xfrm>
          <a:prstGeom prst="rect">
            <a:avLst/>
          </a:prstGeom>
          <a:solidFill>
            <a:srgbClr val="7C3AED"/>
          </a:solidFill>
          <a:ln>
            <a:solidFill>
              <a:srgbClr val="7C3AED"/>
            </a:solidFill>
          </a:ln>
        </p:spPr>
        <p:txBody>
          <a:bodyPr wrap="square" lIns="0" tIns="0" rIns="0" bIns="0" rtlCol="0" anchor="ctr"/>
          <a:lstStyle/>
          <a:p>
            <a:pPr algn="ctr" indent="0" marL="0">
              <a:buNone/>
            </a:pPr>
            <a:r>
              <a:rPr lang="en-US" sz="750" b="1" dirty="0">
                <a:solidFill>
                  <a:srgbClr val="FFFFFF"/>
                </a:solidFill>
                <a:latin typeface="Noto Sans CJK SC" pitchFamily="34" charset="0"/>
                <a:ea typeface="Noto Sans CJK SC" pitchFamily="34" charset="-122"/>
                <a:cs typeface="Noto Sans CJK SC" pitchFamily="34" charset="-120"/>
              </a:rPr>
              <a:t>06</a:t>
            </a:r>
            <a:endParaRPr lang="en-US" sz="750" dirty="0"/>
          </a:p>
        </p:txBody>
      </p:sp>
      <p:sp>
        <p:nvSpPr>
          <p:cNvPr id="19" name="Text 17"/>
          <p:cNvSpPr/>
          <p:nvPr/>
        </p:nvSpPr>
        <p:spPr>
          <a:xfrm>
            <a:off x="1371600" y="5394960"/>
            <a:ext cx="9436608" cy="320040"/>
          </a:xfrm>
          <a:prstGeom prst="rect">
            <a:avLst/>
          </a:prstGeom>
          <a:noFill/>
          <a:ln/>
        </p:spPr>
        <p:txBody>
          <a:bodyPr wrap="square" lIns="0" tIns="0" rIns="0" bIns="0" rtlCol="0" anchor="ctr">
            <a:normAutofit/>
          </a:bodyPr>
          <a:lstStyle/>
          <a:p>
            <a:pPr indent="0" marL="0">
              <a:buNone/>
            </a:pPr>
            <a:r>
              <a:rPr lang="en-US" sz="1280" dirty="0">
                <a:solidFill>
                  <a:srgbClr val="111827"/>
                </a:solidFill>
                <a:latin typeface="Noto Sans CJK SC" pitchFamily="34" charset="0"/>
                <a:ea typeface="Noto Sans CJK SC" pitchFamily="34" charset="-122"/>
                <a:cs typeface="Noto Sans CJK SC" pitchFamily="34" charset="-120"/>
              </a:rPr>
              <a:t>展示云端部署效果，说明 Streamlit Cloud + Railway MySQL</a:t>
            </a:r>
            <a:endParaRPr lang="en-US" sz="1280" dirty="0"/>
          </a:p>
        </p:txBody>
      </p:sp>
      <p:sp>
        <p:nvSpPr>
          <p:cNvPr id="20" name="Text 18"/>
          <p:cNvSpPr/>
          <p:nvPr/>
        </p:nvSpPr>
        <p:spPr>
          <a:xfrm>
            <a:off x="4160520" y="5897880"/>
            <a:ext cx="3931920" cy="411480"/>
          </a:xfrm>
          <a:prstGeom prst="rect">
            <a:avLst/>
          </a:prstGeom>
          <a:noFill/>
          <a:ln/>
        </p:spPr>
        <p:txBody>
          <a:bodyPr wrap="square" lIns="0" tIns="0" rIns="0" bIns="0" rtlCol="0" anchor="ctr"/>
          <a:lstStyle/>
          <a:p>
            <a:pPr algn="ctr" indent="0" marL="0">
              <a:buNone/>
            </a:pPr>
            <a:r>
              <a:rPr lang="en-US" sz="2400" b="1" dirty="0">
                <a:solidFill>
                  <a:srgbClr val="111827"/>
                </a:solidFill>
                <a:latin typeface="Noto Sans CJK SC" pitchFamily="34" charset="0"/>
                <a:ea typeface="Noto Sans CJK SC" pitchFamily="34" charset="-122"/>
                <a:cs typeface="Noto Sans CJK SC" pitchFamily="34" charset="-120"/>
              </a:rPr>
              <a:t>谢谢大家</a:t>
            </a:r>
            <a:endParaRPr lang="en-US" sz="2400" dirty="0"/>
          </a:p>
        </p:txBody>
      </p:sp>
      <p:sp>
        <p:nvSpPr>
          <p:cNvPr id="22" name="Text 19"/>
          <p:cNvSpPr/>
          <p:nvPr/>
        </p:nvSpPr>
        <p:spPr>
          <a:xfrm>
            <a:off x="502920" y="6446520"/>
            <a:ext cx="2743200" cy="201168"/>
          </a:xfrm>
          <a:prstGeom prst="rect">
            <a:avLst/>
          </a:prstGeom>
          <a:noFill/>
          <a:ln/>
        </p:spPr>
        <p:txBody>
          <a:bodyPr wrap="square" lIns="0" tIns="0" rIns="0" bIns="0" rtlCol="0" anchor="ctr"/>
          <a:lstStyle/>
          <a:p>
            <a:pPr indent="0" marL="0">
              <a:buNone/>
            </a:pPr>
            <a:r>
              <a:rPr lang="en-US" sz="750" dirty="0">
                <a:solidFill>
                  <a:srgbClr val="94A3B8"/>
                </a:solidFill>
                <a:latin typeface="Noto Sans CJK SC" pitchFamily="34" charset="0"/>
                <a:ea typeface="Noto Sans CJK SC" pitchFamily="34" charset="-122"/>
                <a:cs typeface="Noto Sans CJK SC" pitchFamily="34" charset="-120"/>
              </a:rPr>
              <a:t>毕业设计展示 · 12</a:t>
            </a:r>
            <a:endParaRPr lang="en-US" sz="750" dirty="0"/>
          </a:p>
        </p:txBody>
      </p:sp>
      <p:sp>
        <p:nvSpPr>
          <p:cNvPr id="23" name="Text 20"/>
          <p:cNvSpPr/>
          <p:nvPr/>
        </p:nvSpPr>
        <p:spPr>
          <a:xfrm>
            <a:off x="8321040" y="6446520"/>
            <a:ext cx="3383280" cy="201168"/>
          </a:xfrm>
          <a:prstGeom prst="rect">
            <a:avLst/>
          </a:prstGeom>
          <a:noFill/>
          <a:ln/>
        </p:spPr>
        <p:txBody>
          <a:bodyPr wrap="square" lIns="0" tIns="0" rIns="0" bIns="0" rtlCol="0" anchor="ctr"/>
          <a:lstStyle/>
          <a:p>
            <a:pPr algn="r" indent="0" marL="0">
              <a:buNone/>
            </a:pPr>
            <a:r>
              <a:rPr lang="en-US" sz="750" dirty="0">
                <a:solidFill>
                  <a:srgbClr val="94A3B8"/>
                </a:solidFill>
                <a:latin typeface="Noto Sans CJK SC" pitchFamily="34" charset="0"/>
                <a:ea typeface="Noto Sans CJK SC" pitchFamily="34" charset="-122"/>
                <a:cs typeface="Noto Sans CJK SC" pitchFamily="34" charset="-120"/>
              </a:rPr>
              <a:t>图书数据可视化与 AI 分析平台</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基于云端数据库与大语言模型的图书数据可视化分析平台设计与实现</dc:title>
  <dc:subject>毕业设计答辩展示</dc:subject>
  <dc:creator>OpenAI</dc:creator>
  <cp:lastModifiedBy>OpenAI</cp:lastModifiedBy>
  <cp:revision>1</cp:revision>
  <dcterms:created xsi:type="dcterms:W3CDTF">2026-06-15T23:45:14Z</dcterms:created>
  <dcterms:modified xsi:type="dcterms:W3CDTF">2026-06-15T23:45:14Z</dcterms:modified>
</cp:coreProperties>
</file>